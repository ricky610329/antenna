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75" r:id="rId9"/>
    <p:sldId id="263" r:id="rId10"/>
    <p:sldId id="264" r:id="rId11"/>
    <p:sldId id="265" r:id="rId12"/>
    <p:sldId id="267" r:id="rId13"/>
    <p:sldId id="268" r:id="rId14"/>
    <p:sldId id="270" r:id="rId15"/>
    <p:sldId id="271" r:id="rId16"/>
    <p:sldId id="272" r:id="rId17"/>
    <p:sldId id="273" r:id="rId18"/>
    <p:sldId id="276" r:id="rId19"/>
    <p:sldId id="277" r:id="rId20"/>
    <p:sldId id="278" r:id="rId21"/>
    <p:sldId id="279" r:id="rId22"/>
    <p:sldId id="280" r:id="rId23"/>
    <p:sldId id="28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92E919-5268-47F4-8BDD-21E07EF1A326}" type="datetimeFigureOut">
              <a:rPr lang="zh-TW" altLang="en-US" smtClean="0"/>
              <a:t>2026/9/23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5811E-D10F-48C4-88EB-A6ADFE3F5D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4078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Antenna/docs/discuss/scratch.md</a:t>
            </a:r>
            <a:r>
              <a:rPr lang="zh-TW" altLang="en-US"/>
              <a:t>，</a:t>
            </a:r>
            <a:r>
              <a:rPr lang="en-US" altLang="zh-TW"/>
              <a:t>2026-08-31 </a:t>
            </a:r>
            <a:r>
              <a:rPr lang="zh-TW" altLang="en-US"/>
              <a:t>交付紀錄；</a:t>
            </a:r>
            <a:r>
              <a:rPr lang="en-US" altLang="zh-TW"/>
              <a:t>Antenna/docs/</a:t>
            </a:r>
            <a:r>
              <a:rPr lang="zh-TW" altLang="en-US"/>
              <a:t>進度報告</a:t>
            </a:r>
            <a:r>
              <a:rPr lang="en-US" altLang="zh-TW"/>
              <a:t>/09</a:t>
            </a:r>
            <a:r>
              <a:rPr lang="zh-TW" altLang="en-US"/>
              <a:t>月</a:t>
            </a:r>
            <a:r>
              <a:rPr lang="en-US" altLang="zh-TW"/>
              <a:t>/</a:t>
            </a:r>
            <a:r>
              <a:rPr lang="zh-TW" altLang="en-US"/>
              <a:t>九月份進度報告</a:t>
            </a:r>
            <a:r>
              <a:rPr lang="en-US" altLang="zh-TW"/>
              <a:t>.md</a:t>
            </a:r>
            <a:r>
              <a:rPr lang="zh-TW" altLang="en-US"/>
              <a:t>。歷史重測及備份紀錄，本次未重新操作 </a:t>
            </a:r>
            <a:r>
              <a:rPr lang="en-US" altLang="zh-TW"/>
              <a:t>NAS </a:t>
            </a:r>
            <a:r>
              <a:rPr lang="zh-TW" altLang="en-US"/>
              <a:t>或 </a:t>
            </a:r>
            <a:r>
              <a:rPr lang="en-US" altLang="zh-TW"/>
              <a:t>HFSS</a:t>
            </a:r>
            <a:r>
              <a:rPr lang="zh-TW" altLang="en-US"/>
              <a:t>。 </a:t>
            </a:r>
            <a:r>
              <a:rPr lang="en-US" altLang="zh-TW"/>
              <a:t>emforge/docs/reliability-2026-09-12.md</a:t>
            </a:r>
            <a:r>
              <a:rPr lang="zh-TW" altLang="en-US"/>
              <a:t>；</a:t>
            </a:r>
            <a:r>
              <a:rPr lang="en-US" altLang="zh-TW"/>
              <a:t>emforge/docs/implementation.md</a:t>
            </a:r>
            <a:r>
              <a:rPr lang="zh-TW" altLang="en-US"/>
              <a:t>；</a:t>
            </a:r>
            <a:r>
              <a:rPr lang="en-US" altLang="zh-TW"/>
              <a:t>emforge </a:t>
            </a:r>
            <a:r>
              <a:rPr lang="zh-TW" altLang="en-US"/>
              <a:t>程式版本 </a:t>
            </a:r>
            <a:r>
              <a:rPr lang="en-US" altLang="zh-TW"/>
              <a:t>998ad35</a:t>
            </a:r>
            <a:r>
              <a:rPr lang="zh-TW" altLang="en-US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5811E-D10F-48C4-88EB-A6ADFE3F5DF4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9528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Antenna/docs/discuss/scratch.md</a:t>
            </a:r>
            <a:r>
              <a:rPr lang="zh-TW" altLang="en-US"/>
              <a:t>，</a:t>
            </a:r>
            <a:r>
              <a:rPr lang="en-US" altLang="zh-TW"/>
              <a:t>2026-08-31 </a:t>
            </a:r>
            <a:r>
              <a:rPr lang="zh-TW" altLang="en-US"/>
              <a:t>交付紀錄；</a:t>
            </a:r>
            <a:r>
              <a:rPr lang="en-US" altLang="zh-TW"/>
              <a:t>Antenna/docs/</a:t>
            </a:r>
            <a:r>
              <a:rPr lang="zh-TW" altLang="en-US"/>
              <a:t>進度報告</a:t>
            </a:r>
            <a:r>
              <a:rPr lang="en-US" altLang="zh-TW"/>
              <a:t>/09</a:t>
            </a:r>
            <a:r>
              <a:rPr lang="zh-TW" altLang="en-US"/>
              <a:t>月</a:t>
            </a:r>
            <a:r>
              <a:rPr lang="en-US" altLang="zh-TW"/>
              <a:t>/</a:t>
            </a:r>
            <a:r>
              <a:rPr lang="zh-TW" altLang="en-US"/>
              <a:t>九月份進度報告</a:t>
            </a:r>
            <a:r>
              <a:rPr lang="en-US" altLang="zh-TW"/>
              <a:t>.md</a:t>
            </a:r>
            <a:r>
              <a:rPr lang="zh-TW" altLang="en-US"/>
              <a:t>。歷史重測及備份紀錄，本次未重新操作 </a:t>
            </a:r>
            <a:r>
              <a:rPr lang="en-US" altLang="zh-TW"/>
              <a:t>NAS </a:t>
            </a:r>
            <a:r>
              <a:rPr lang="zh-TW" altLang="en-US"/>
              <a:t>或 </a:t>
            </a:r>
            <a:r>
              <a:rPr lang="en-US" altLang="zh-TW"/>
              <a:t>HFSS</a:t>
            </a:r>
            <a:r>
              <a:rPr lang="zh-TW" altLang="en-US"/>
              <a:t>。 </a:t>
            </a:r>
            <a:r>
              <a:rPr lang="en-US" altLang="zh-TW"/>
              <a:t>emforge/docs/delivery-readiness-2026-09-12.md </a:t>
            </a:r>
            <a:r>
              <a:rPr lang="zh-TW" altLang="en-US"/>
              <a:t>的既有驗收證據；</a:t>
            </a:r>
            <a:r>
              <a:rPr lang="en-US" altLang="zh-TW"/>
              <a:t>emforge/docs/reliability-2026-09-12.md </a:t>
            </a:r>
            <a:r>
              <a:rPr lang="zh-TW" altLang="en-US"/>
              <a:t>的修正版驗證。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5811E-D10F-48C4-88EB-A6ADFE3F5DF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2041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Antenna/docs/discuss/scratch.md</a:t>
            </a:r>
            <a:r>
              <a:rPr lang="zh-TW" altLang="en-US"/>
              <a:t>，</a:t>
            </a:r>
            <a:r>
              <a:rPr lang="en-US" altLang="zh-TW"/>
              <a:t>2026-08-31 </a:t>
            </a:r>
            <a:r>
              <a:rPr lang="zh-TW" altLang="en-US"/>
              <a:t>交付紀錄；</a:t>
            </a:r>
            <a:r>
              <a:rPr lang="en-US" altLang="zh-TW"/>
              <a:t>Antenna/docs/</a:t>
            </a:r>
            <a:r>
              <a:rPr lang="zh-TW" altLang="en-US"/>
              <a:t>進度報告</a:t>
            </a:r>
            <a:r>
              <a:rPr lang="en-US" altLang="zh-TW"/>
              <a:t>/09</a:t>
            </a:r>
            <a:r>
              <a:rPr lang="zh-TW" altLang="en-US"/>
              <a:t>月</a:t>
            </a:r>
            <a:r>
              <a:rPr lang="en-US" altLang="zh-TW"/>
              <a:t>/</a:t>
            </a:r>
            <a:r>
              <a:rPr lang="zh-TW" altLang="en-US"/>
              <a:t>九月份進度報告</a:t>
            </a:r>
            <a:r>
              <a:rPr lang="en-US" altLang="zh-TW"/>
              <a:t>.md</a:t>
            </a:r>
            <a:r>
              <a:rPr lang="zh-TW" altLang="en-US"/>
              <a:t>。歷史重測及備份紀錄，本次未重新操作 </a:t>
            </a:r>
            <a:r>
              <a:rPr lang="en-US" altLang="zh-TW"/>
              <a:t>NAS </a:t>
            </a:r>
            <a:r>
              <a:rPr lang="zh-TW" altLang="en-US"/>
              <a:t>或 </a:t>
            </a:r>
            <a:r>
              <a:rPr lang="en-US" altLang="zh-TW"/>
              <a:t>HFSS</a:t>
            </a:r>
            <a:r>
              <a:rPr lang="zh-TW" altLang="en-US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5811E-D10F-48C4-88EB-A6ADFE3F5DF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8824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Antenna/docs/discuss/scratch.md</a:t>
            </a:r>
            <a:r>
              <a:rPr lang="zh-TW" altLang="en-US"/>
              <a:t>，</a:t>
            </a:r>
            <a:r>
              <a:rPr lang="en-US" altLang="zh-TW"/>
              <a:t>2026-08-31 </a:t>
            </a:r>
            <a:r>
              <a:rPr lang="zh-TW" altLang="en-US"/>
              <a:t>交付紀錄；</a:t>
            </a:r>
            <a:r>
              <a:rPr lang="en-US" altLang="zh-TW"/>
              <a:t>Antenna/docs/</a:t>
            </a:r>
            <a:r>
              <a:rPr lang="zh-TW" altLang="en-US"/>
              <a:t>進度報告</a:t>
            </a:r>
            <a:r>
              <a:rPr lang="en-US" altLang="zh-TW"/>
              <a:t>/09</a:t>
            </a:r>
            <a:r>
              <a:rPr lang="zh-TW" altLang="en-US"/>
              <a:t>月</a:t>
            </a:r>
            <a:r>
              <a:rPr lang="en-US" altLang="zh-TW"/>
              <a:t>/</a:t>
            </a:r>
            <a:r>
              <a:rPr lang="zh-TW" altLang="en-US"/>
              <a:t>九月份進度報告</a:t>
            </a:r>
            <a:r>
              <a:rPr lang="en-US" altLang="zh-TW"/>
              <a:t>.md</a:t>
            </a:r>
            <a:r>
              <a:rPr lang="zh-TW" altLang="en-US"/>
              <a:t>。歷史重測及備份紀錄，本次未重新操作 </a:t>
            </a:r>
            <a:r>
              <a:rPr lang="en-US" altLang="zh-TW"/>
              <a:t>NAS </a:t>
            </a:r>
            <a:r>
              <a:rPr lang="zh-TW" altLang="en-US"/>
              <a:t>或 </a:t>
            </a:r>
            <a:r>
              <a:rPr lang="en-US" altLang="zh-TW"/>
              <a:t>HFSS</a:t>
            </a:r>
            <a:r>
              <a:rPr lang="zh-TW" altLang="en-US"/>
              <a:t>。 </a:t>
            </a:r>
            <a:r>
              <a:rPr lang="en-US" altLang="zh-TW"/>
              <a:t>+0.27 dB </a:t>
            </a:r>
            <a:r>
              <a:rPr lang="zh-TW" altLang="en-US"/>
              <a:t>為歷史 </a:t>
            </a:r>
            <a:r>
              <a:rPr lang="en-US" altLang="zh-TW"/>
              <a:t>13 </a:t>
            </a:r>
            <a:r>
              <a:rPr lang="zh-TW" altLang="en-US"/>
              <a:t>張多橋寬 </a:t>
            </a:r>
            <a:r>
              <a:rPr lang="en-US" altLang="zh-TW"/>
              <a:t>pattern </a:t>
            </a:r>
            <a:r>
              <a:rPr lang="zh-TW" altLang="en-US"/>
              <a:t>的中位差，最大 </a:t>
            </a:r>
            <a:r>
              <a:rPr lang="en-US" altLang="zh-TW"/>
              <a:t>+0.65 dB</a:t>
            </a:r>
            <a:r>
              <a:rPr lang="zh-TW" altLang="en-US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5811E-D10F-48C4-88EB-A6ADFE3F5DF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0962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來源：</a:t>
            </a:r>
            <a:r>
              <a:rPr lang="en-US" altLang="zh-TW"/>
              <a:t>Antenna/docs/records_dual.json </a:t>
            </a:r>
            <a:r>
              <a:rPr lang="zh-TW" altLang="en-US"/>
              <a:t>的 </a:t>
            </a:r>
            <a:r>
              <a:rPr lang="en-US" altLang="zh-TW"/>
              <a:t>17 </a:t>
            </a:r>
            <a:r>
              <a:rPr lang="zh-TW" altLang="en-US"/>
              <a:t>筆 </a:t>
            </a:r>
            <a:r>
              <a:rPr lang="en-US" altLang="zh-TW"/>
              <a:t>wm_mfg </a:t>
            </a:r>
            <a:r>
              <a:rPr lang="zh-TW" altLang="en-US"/>
              <a:t>歷史。−</a:t>
            </a:r>
            <a:r>
              <a:rPr lang="en-US" altLang="zh-TW"/>
              <a:t>2.30 </a:t>
            </a:r>
            <a:r>
              <a:rPr lang="zh-TW" altLang="en-US"/>
              <a:t>為先前樣本分析的估計，並非已證明的理論上界。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5811E-D10F-48C4-88EB-A6ADFE3F5DF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09323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圖：</a:t>
            </a:r>
            <a:r>
              <a:rPr lang="en-US" altLang="zh-TW"/>
              <a:t>Antenna/docs/</a:t>
            </a:r>
            <a:r>
              <a:rPr lang="zh-TW" altLang="en-US"/>
              <a:t>進度報告</a:t>
            </a:r>
            <a:r>
              <a:rPr lang="en-US" altLang="zh-TW"/>
              <a:t>/08</a:t>
            </a:r>
            <a:r>
              <a:rPr lang="zh-TW" altLang="en-US"/>
              <a:t>月</a:t>
            </a:r>
            <a:r>
              <a:rPr lang="en-US" altLang="zh-TW"/>
              <a:t>/dual_top5_overlay.png</a:t>
            </a:r>
            <a:r>
              <a:rPr lang="zh-TW" altLang="en-US"/>
              <a:t>，八月前五名歷史曲線。門檻與解讀見原八月報告。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5811E-D10F-48C4-88EB-A6ADFE3F5DF4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5745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Antenna/docs/discuss/scratch.md</a:t>
            </a:r>
            <a:r>
              <a:rPr lang="zh-TW" altLang="en-US"/>
              <a:t>，</a:t>
            </a:r>
            <a:r>
              <a:rPr lang="en-US" altLang="zh-TW"/>
              <a:t>2026-08-31 </a:t>
            </a:r>
            <a:r>
              <a:rPr lang="zh-TW" altLang="en-US"/>
              <a:t>交付紀錄；</a:t>
            </a:r>
            <a:r>
              <a:rPr lang="en-US" altLang="zh-TW"/>
              <a:t>Antenna/docs/</a:t>
            </a:r>
            <a:r>
              <a:rPr lang="zh-TW" altLang="en-US"/>
              <a:t>進度報告</a:t>
            </a:r>
            <a:r>
              <a:rPr lang="en-US" altLang="zh-TW"/>
              <a:t>/09</a:t>
            </a:r>
            <a:r>
              <a:rPr lang="zh-TW" altLang="en-US"/>
              <a:t>月</a:t>
            </a:r>
            <a:r>
              <a:rPr lang="en-US" altLang="zh-TW"/>
              <a:t>/</a:t>
            </a:r>
            <a:r>
              <a:rPr lang="zh-TW" altLang="en-US"/>
              <a:t>九月份進度報告</a:t>
            </a:r>
            <a:r>
              <a:rPr lang="en-US" altLang="zh-TW"/>
              <a:t>.md</a:t>
            </a:r>
            <a:r>
              <a:rPr lang="zh-TW" altLang="en-US"/>
              <a:t>。歷史重測及備份紀錄，本次未重新操作 </a:t>
            </a:r>
            <a:r>
              <a:rPr lang="en-US" altLang="zh-TW"/>
              <a:t>NAS </a:t>
            </a:r>
            <a:r>
              <a:rPr lang="zh-TW" altLang="en-US"/>
              <a:t>或 </a:t>
            </a:r>
            <a:r>
              <a:rPr lang="en-US" altLang="zh-TW"/>
              <a:t>HFSS</a:t>
            </a:r>
            <a:r>
              <a:rPr lang="zh-TW" altLang="en-US"/>
              <a:t>。 </a:t>
            </a:r>
            <a:r>
              <a:rPr lang="en-US" altLang="zh-TW"/>
              <a:t>emforge/docs/reliability-2026-09-12.md</a:t>
            </a:r>
            <a:r>
              <a:rPr lang="zh-TW" altLang="en-US"/>
              <a:t>；</a:t>
            </a:r>
            <a:r>
              <a:rPr lang="en-US" altLang="zh-TW"/>
              <a:t>emforge/docs/implementation.md</a:t>
            </a:r>
            <a:r>
              <a:rPr lang="zh-TW" altLang="en-US"/>
              <a:t>；</a:t>
            </a:r>
            <a:r>
              <a:rPr lang="en-US" altLang="zh-TW"/>
              <a:t>emforge </a:t>
            </a:r>
            <a:r>
              <a:rPr lang="zh-TW" altLang="en-US"/>
              <a:t>程式版本 </a:t>
            </a:r>
            <a:r>
              <a:rPr lang="en-US" altLang="zh-TW"/>
              <a:t>998ad35</a:t>
            </a:r>
            <a:r>
              <a:rPr lang="zh-TW" altLang="en-US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5811E-D10F-48C4-88EB-A6ADFE3F5DF4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8257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Antenna/docs/log/round-71-dual-dynasty-mining.md</a:t>
            </a:r>
            <a:r>
              <a:rPr lang="zh-TW" altLang="en-US"/>
              <a:t>；</a:t>
            </a:r>
            <a:r>
              <a:rPr lang="en-US" altLang="zh-TW"/>
              <a:t>docs/log/analysis-10-sm-vs-physics.md §5</a:t>
            </a:r>
            <a:r>
              <a:rPr lang="zh-TW" altLang="en-US"/>
              <a:t>。數字限各自實驗，不可直接相加或外推為一般方法優劣。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5811E-D10F-48C4-88EB-A6ADFE3F5DF4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95559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emforge/docs/reliability-2026-09-12.md</a:t>
            </a:r>
            <a:r>
              <a:rPr lang="zh-TW" altLang="en-US"/>
              <a:t>；</a:t>
            </a:r>
            <a:r>
              <a:rPr lang="en-US" altLang="zh-TW"/>
              <a:t>emforge/docs/implementation.md</a:t>
            </a:r>
            <a:r>
              <a:rPr lang="zh-TW" altLang="en-US"/>
              <a:t>；</a:t>
            </a:r>
            <a:r>
              <a:rPr lang="en-US" altLang="zh-TW"/>
              <a:t>emforge </a:t>
            </a:r>
            <a:r>
              <a:rPr lang="zh-TW" altLang="en-US"/>
              <a:t>程式版本 </a:t>
            </a:r>
            <a:r>
              <a:rPr lang="en-US" altLang="zh-TW"/>
              <a:t>998ad35</a:t>
            </a:r>
            <a:r>
              <a:rPr lang="zh-TW" altLang="en-US"/>
              <a:t>。 實作以 </a:t>
            </a:r>
            <a:r>
              <a:rPr lang="en-US" altLang="zh-TW"/>
              <a:t>Client/Platform/Runtime/Depot/Instrument </a:t>
            </a:r>
            <a:r>
              <a:rPr lang="zh-TW" altLang="en-US"/>
              <a:t>為準，更新原始架構文件的 </a:t>
            </a:r>
            <a:r>
              <a:rPr lang="en-US" altLang="zh-TW"/>
              <a:t>AI </a:t>
            </a:r>
            <a:r>
              <a:rPr lang="zh-TW" altLang="en-US"/>
              <a:t>接口描述。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5811E-D10F-48C4-88EB-A6ADFE3F5DF4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6133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emforge/docs/reliability-2026-09-12.md</a:t>
            </a:r>
            <a:r>
              <a:rPr lang="zh-TW" altLang="en-US"/>
              <a:t>；</a:t>
            </a:r>
            <a:r>
              <a:rPr lang="en-US" altLang="zh-TW"/>
              <a:t>emforge/docs/implementation.md</a:t>
            </a:r>
            <a:r>
              <a:rPr lang="zh-TW" altLang="en-US"/>
              <a:t>；</a:t>
            </a:r>
            <a:r>
              <a:rPr lang="en-US" altLang="zh-TW"/>
              <a:t>emforge </a:t>
            </a:r>
            <a:r>
              <a:rPr lang="zh-TW" altLang="en-US"/>
              <a:t>程式版本 </a:t>
            </a:r>
            <a:r>
              <a:rPr lang="en-US" altLang="zh-TW"/>
              <a:t>998ad35</a:t>
            </a:r>
            <a:r>
              <a:rPr lang="zh-TW" altLang="en-US"/>
              <a:t>。 程式：</a:t>
            </a:r>
            <a:r>
              <a:rPr lang="en-US" altLang="zh-TW"/>
              <a:t>client.py</a:t>
            </a:r>
            <a:r>
              <a:rPr lang="zh-TW" altLang="en-US"/>
              <a:t>、</a:t>
            </a:r>
            <a:r>
              <a:rPr lang="en-US" altLang="zh-TW"/>
              <a:t>platform/submissions.py</a:t>
            </a:r>
            <a:r>
              <a:rPr lang="zh-TW" altLang="en-US"/>
              <a:t>、</a:t>
            </a:r>
            <a:r>
              <a:rPr lang="en-US" altLang="zh-TW"/>
              <a:t>runtime/dispatch.py</a:t>
            </a:r>
            <a:r>
              <a:rPr lang="zh-TW" altLang="en-US"/>
              <a:t>、</a:t>
            </a:r>
            <a:r>
              <a:rPr lang="en-US" altLang="zh-TW"/>
              <a:t>runtime/collect.py</a:t>
            </a:r>
            <a:r>
              <a:rPr lang="zh-TW" altLang="en-US"/>
              <a:t>、</a:t>
            </a:r>
            <a:r>
              <a:rPr lang="en-US" altLang="zh-TW"/>
              <a:t>worker/batch.py</a:t>
            </a:r>
            <a:r>
              <a:rPr lang="zh-TW" altLang="en-US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5811E-D10F-48C4-88EB-A6ADFE3F5DF4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9942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emforge/docs/reliability-2026-09-12.md</a:t>
            </a:r>
            <a:r>
              <a:rPr lang="zh-TW" altLang="en-US"/>
              <a:t>；</a:t>
            </a:r>
            <a:r>
              <a:rPr lang="en-US" altLang="zh-TW"/>
              <a:t>emforge/docs/implementation.md</a:t>
            </a:r>
            <a:r>
              <a:rPr lang="zh-TW" altLang="en-US"/>
              <a:t>；</a:t>
            </a:r>
            <a:r>
              <a:rPr lang="en-US" altLang="zh-TW"/>
              <a:t>emforge </a:t>
            </a:r>
            <a:r>
              <a:rPr lang="zh-TW" altLang="en-US"/>
              <a:t>程式版本 </a:t>
            </a:r>
            <a:r>
              <a:rPr lang="en-US" altLang="zh-TW"/>
              <a:t>998ad35</a:t>
            </a:r>
            <a:r>
              <a:rPr lang="zh-TW" altLang="en-US"/>
              <a:t>。 程式：</a:t>
            </a:r>
            <a:r>
              <a:rPr lang="en-US" altLang="zh-TW"/>
              <a:t>profiles.py</a:t>
            </a:r>
            <a:r>
              <a:rPr lang="zh-TW" altLang="en-US"/>
              <a:t>、</a:t>
            </a:r>
            <a:r>
              <a:rPr lang="en-US" altLang="zh-TW"/>
              <a:t>spec.py</a:t>
            </a:r>
            <a:r>
              <a:rPr lang="zh-TW" altLang="en-US"/>
              <a:t>、</a:t>
            </a:r>
            <a:r>
              <a:rPr lang="en-US" altLang="zh-TW"/>
              <a:t>measure.py</a:t>
            </a:r>
            <a:r>
              <a:rPr lang="zh-TW" altLang="en-US"/>
              <a:t>、</a:t>
            </a:r>
            <a:r>
              <a:rPr lang="en-US" altLang="zh-TW"/>
              <a:t>model.py</a:t>
            </a:r>
            <a:r>
              <a:rPr lang="zh-TW" altLang="en-US"/>
              <a:t>。既有 </a:t>
            </a:r>
            <a:r>
              <a:rPr lang="en-US" altLang="zh-TW"/>
              <a:t>run </a:t>
            </a:r>
            <a:r>
              <a:rPr lang="zh-TW" altLang="en-US"/>
              <a:t>保存 </a:t>
            </a:r>
            <a:r>
              <a:rPr lang="en-US" altLang="zh-TW"/>
              <a:t>spec_snapshot</a:t>
            </a:r>
            <a:r>
              <a:rPr lang="zh-TW" altLang="en-US"/>
              <a:t>，變更規格使用新名字。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5811E-D10F-48C4-88EB-A6ADFE3F5DF4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8949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emforge/docs/agent-harness.md</a:t>
            </a:r>
            <a:r>
              <a:rPr lang="zh-TW" altLang="en-US"/>
              <a:t>；</a:t>
            </a:r>
            <a:r>
              <a:rPr lang="en-US" altLang="zh-TW"/>
              <a:t>integrations/pi/extension.ts</a:t>
            </a:r>
            <a:r>
              <a:rPr lang="zh-TW" altLang="en-US"/>
              <a:t>；</a:t>
            </a:r>
            <a:r>
              <a:rPr lang="en-US" altLang="zh-TW"/>
              <a:t>emforge/platform/mcp_server.py</a:t>
            </a:r>
            <a:r>
              <a:rPr lang="zh-TW" altLang="en-US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5811E-D10F-48C4-88EB-A6ADFE3F5DF4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0725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emforge/docs/delivery-readiness-2026-09-12.md </a:t>
            </a:r>
            <a:r>
              <a:rPr lang="zh-TW" altLang="en-US"/>
              <a:t>的既有驗收證據；</a:t>
            </a:r>
            <a:r>
              <a:rPr lang="en-US" altLang="zh-TW"/>
              <a:t>emforge/docs/reliability-2026-09-12.md </a:t>
            </a:r>
            <a:r>
              <a:rPr lang="zh-TW" altLang="en-US"/>
              <a:t>的修正版驗證。 部署配置來自 </a:t>
            </a:r>
            <a:r>
              <a:rPr lang="en-US" altLang="zh-TW"/>
              <a:t>9/12 </a:t>
            </a:r>
            <a:r>
              <a:rPr lang="zh-TW" altLang="en-US"/>
              <a:t>驗收。服務於 </a:t>
            </a:r>
            <a:r>
              <a:rPr lang="en-US" altLang="zh-TW"/>
              <a:t>9/12 </a:t>
            </a:r>
            <a:r>
              <a:rPr lang="zh-TW" altLang="en-US"/>
              <a:t>收工時停止；</a:t>
            </a:r>
            <a:r>
              <a:rPr lang="en-US" altLang="zh-TW"/>
              <a:t>local/shutdown-20260912.json</a:t>
            </a:r>
            <a:r>
              <a:rPr lang="zh-TW" altLang="en-US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5811E-D10F-48C4-88EB-A6ADFE3F5DF4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413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emforge/docs/delivery-readiness-2026-09-12.md </a:t>
            </a:r>
            <a:r>
              <a:rPr lang="zh-TW" altLang="en-US"/>
              <a:t>的既有驗收證據；</a:t>
            </a:r>
            <a:r>
              <a:rPr lang="en-US" altLang="zh-TW"/>
              <a:t>emforge/docs/reliability-2026-09-12.md </a:t>
            </a:r>
            <a:r>
              <a:rPr lang="zh-TW" altLang="en-US"/>
              <a:t>的修正版驗證。 </a:t>
            </a:r>
            <a:r>
              <a:rPr lang="en-US" altLang="zh-TW"/>
              <a:t>640 </a:t>
            </a:r>
            <a:r>
              <a:rPr lang="zh-TW" altLang="en-US"/>
              <a:t>項工作樹測試為 </a:t>
            </a:r>
            <a:r>
              <a:rPr lang="en-US" altLang="zh-TW"/>
              <a:t>72.35 </a:t>
            </a:r>
            <a:r>
              <a:rPr lang="zh-TW" altLang="en-US"/>
              <a:t>秒，隔離快照為 </a:t>
            </a:r>
            <a:r>
              <a:rPr lang="en-US" altLang="zh-TW"/>
              <a:t>65.57 </a:t>
            </a:r>
            <a:r>
              <a:rPr lang="zh-TW" altLang="en-US"/>
              <a:t>秒。</a:t>
            </a:r>
            <a:r>
              <a:rPr lang="en-US" altLang="zh-TW"/>
              <a:t>9/12 </a:t>
            </a:r>
            <a:r>
              <a:rPr lang="zh-TW" altLang="en-US"/>
              <a:t>三機 </a:t>
            </a:r>
            <a:r>
              <a:rPr lang="en-US" altLang="zh-TW"/>
              <a:t>response </a:t>
            </a:r>
            <a:r>
              <a:rPr lang="zh-TW" altLang="en-US"/>
              <a:t>最大差 </a:t>
            </a:r>
            <a:r>
              <a:rPr lang="en-US" altLang="zh-TW"/>
              <a:t>1.9073486328125e-6 dB</a:t>
            </a:r>
            <a:r>
              <a:rPr lang="zh-TW" altLang="en-US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5811E-D10F-48C4-88EB-A6ADFE3F5DF4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85557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Antenna/docs/discuss/scratch.md</a:t>
            </a:r>
            <a:r>
              <a:rPr lang="zh-TW" altLang="en-US"/>
              <a:t>，</a:t>
            </a:r>
            <a:r>
              <a:rPr lang="en-US" altLang="zh-TW"/>
              <a:t>2026-08-31 </a:t>
            </a:r>
            <a:r>
              <a:rPr lang="zh-TW" altLang="en-US"/>
              <a:t>交付紀錄；</a:t>
            </a:r>
            <a:r>
              <a:rPr lang="en-US" altLang="zh-TW"/>
              <a:t>Antenna/docs/</a:t>
            </a:r>
            <a:r>
              <a:rPr lang="zh-TW" altLang="en-US"/>
              <a:t>進度報告</a:t>
            </a:r>
            <a:r>
              <a:rPr lang="en-US" altLang="zh-TW"/>
              <a:t>/09</a:t>
            </a:r>
            <a:r>
              <a:rPr lang="zh-TW" altLang="en-US"/>
              <a:t>月</a:t>
            </a:r>
            <a:r>
              <a:rPr lang="en-US" altLang="zh-TW"/>
              <a:t>/</a:t>
            </a:r>
            <a:r>
              <a:rPr lang="zh-TW" altLang="en-US"/>
              <a:t>九月份進度報告</a:t>
            </a:r>
            <a:r>
              <a:rPr lang="en-US" altLang="zh-TW"/>
              <a:t>.md</a:t>
            </a:r>
            <a:r>
              <a:rPr lang="zh-TW" altLang="en-US"/>
              <a:t>。歷史重測及備份紀錄，本次未重新操作 </a:t>
            </a:r>
            <a:r>
              <a:rPr lang="en-US" altLang="zh-TW"/>
              <a:t>NAS </a:t>
            </a:r>
            <a:r>
              <a:rPr lang="zh-TW" altLang="en-US"/>
              <a:t>或 </a:t>
            </a:r>
            <a:r>
              <a:rPr lang="en-US" altLang="zh-TW"/>
              <a:t>HFSS</a:t>
            </a:r>
            <a:r>
              <a:rPr lang="zh-TW" altLang="en-US"/>
              <a:t>。 </a:t>
            </a:r>
            <a:r>
              <a:rPr lang="en-US" altLang="zh-TW"/>
              <a:t>emforge/docs/delivery-readiness-2026-09-12.md </a:t>
            </a:r>
            <a:r>
              <a:rPr lang="zh-TW" altLang="en-US"/>
              <a:t>的既有驗收證據；</a:t>
            </a:r>
            <a:r>
              <a:rPr lang="en-US" altLang="zh-TW"/>
              <a:t>emforge/docs/reliability-2026-09-12.md </a:t>
            </a:r>
            <a:r>
              <a:rPr lang="zh-TW" altLang="en-US"/>
              <a:t>的修正版驗證。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5811E-D10F-48C4-88EB-A6ADFE3F5DF4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60816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Antenna/docs/discuss/scratch.md</a:t>
            </a:r>
            <a:r>
              <a:rPr lang="zh-TW" altLang="en-US"/>
              <a:t>，</a:t>
            </a:r>
            <a:r>
              <a:rPr lang="en-US" altLang="zh-TW"/>
              <a:t>2026-08-31 </a:t>
            </a:r>
            <a:r>
              <a:rPr lang="zh-TW" altLang="en-US"/>
              <a:t>交付紀錄；</a:t>
            </a:r>
            <a:r>
              <a:rPr lang="en-US" altLang="zh-TW"/>
              <a:t>Antenna/docs/</a:t>
            </a:r>
            <a:r>
              <a:rPr lang="zh-TW" altLang="en-US"/>
              <a:t>進度報告</a:t>
            </a:r>
            <a:r>
              <a:rPr lang="en-US" altLang="zh-TW"/>
              <a:t>/09</a:t>
            </a:r>
            <a:r>
              <a:rPr lang="zh-TW" altLang="en-US"/>
              <a:t>月</a:t>
            </a:r>
            <a:r>
              <a:rPr lang="en-US" altLang="zh-TW"/>
              <a:t>/</a:t>
            </a:r>
            <a:r>
              <a:rPr lang="zh-TW" altLang="en-US"/>
              <a:t>九月份進度報告</a:t>
            </a:r>
            <a:r>
              <a:rPr lang="en-US" altLang="zh-TW"/>
              <a:t>.md</a:t>
            </a:r>
            <a:r>
              <a:rPr lang="zh-TW" altLang="en-US"/>
              <a:t>。歷史重測及備份紀錄，本次未重新操作 </a:t>
            </a:r>
            <a:r>
              <a:rPr lang="en-US" altLang="zh-TW"/>
              <a:t>NAS </a:t>
            </a:r>
            <a:r>
              <a:rPr lang="zh-TW" altLang="en-US"/>
              <a:t>或 </a:t>
            </a:r>
            <a:r>
              <a:rPr lang="en-US" altLang="zh-TW"/>
              <a:t>HFSS</a:t>
            </a:r>
            <a:r>
              <a:rPr lang="zh-TW" altLang="en-US"/>
              <a:t>。 圖：</a:t>
            </a:r>
            <a:r>
              <a:rPr lang="en-US" altLang="zh-TW"/>
              <a:t>Antenna/docs/</a:t>
            </a:r>
            <a:r>
              <a:rPr lang="zh-TW" altLang="en-US"/>
              <a:t>進度報告</a:t>
            </a:r>
            <a:r>
              <a:rPr lang="en-US" altLang="zh-TW"/>
              <a:t>/09</a:t>
            </a:r>
            <a:r>
              <a:rPr lang="zh-TW" altLang="en-US"/>
              <a:t>月</a:t>
            </a:r>
            <a:r>
              <a:rPr lang="en-US" altLang="zh-TW"/>
              <a:t>/handoff_single_page01.png</a:t>
            </a:r>
            <a:r>
              <a:rPr lang="zh-TW" altLang="en-US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5811E-D10F-48C4-88EB-A6ADFE3F5DF4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61606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Antenna/docs/discuss/scratch.md</a:t>
            </a:r>
            <a:r>
              <a:rPr lang="zh-TW" altLang="en-US" dirty="0"/>
              <a:t>，</a:t>
            </a:r>
            <a:r>
              <a:rPr lang="en-US" altLang="zh-TW" dirty="0"/>
              <a:t>2026-08-31 </a:t>
            </a:r>
            <a:r>
              <a:rPr lang="zh-TW" altLang="en-US" dirty="0"/>
              <a:t>交付紀錄；</a:t>
            </a:r>
            <a:r>
              <a:rPr lang="en-US" altLang="zh-TW" dirty="0"/>
              <a:t>Antenna/docs/</a:t>
            </a:r>
            <a:r>
              <a:rPr lang="zh-TW" altLang="en-US" dirty="0"/>
              <a:t>進度報告</a:t>
            </a:r>
            <a:r>
              <a:rPr lang="en-US" altLang="zh-TW" dirty="0"/>
              <a:t>/09</a:t>
            </a:r>
            <a:r>
              <a:rPr lang="zh-TW" altLang="en-US" dirty="0"/>
              <a:t>月</a:t>
            </a:r>
            <a:r>
              <a:rPr lang="en-US" altLang="zh-TW" dirty="0"/>
              <a:t>/</a:t>
            </a:r>
            <a:r>
              <a:rPr lang="zh-TW" altLang="en-US" dirty="0"/>
              <a:t>九月份進度報告</a:t>
            </a:r>
            <a:r>
              <a:rPr lang="en-US" altLang="zh-TW" dirty="0"/>
              <a:t>.md</a:t>
            </a:r>
            <a:r>
              <a:rPr lang="zh-TW" altLang="en-US" dirty="0"/>
              <a:t>。歷史重測及備份紀錄，本次未重新操作 </a:t>
            </a:r>
            <a:r>
              <a:rPr lang="en-US" altLang="zh-TW" dirty="0"/>
              <a:t>NAS </a:t>
            </a:r>
            <a:r>
              <a:rPr lang="zh-TW" altLang="en-US" dirty="0"/>
              <a:t>或 </a:t>
            </a:r>
            <a:r>
              <a:rPr lang="en-US" altLang="zh-TW" dirty="0"/>
              <a:t>HFSS</a:t>
            </a:r>
            <a:r>
              <a:rPr lang="zh-TW" altLang="en-US" dirty="0"/>
              <a:t>。 圖：</a:t>
            </a:r>
            <a:r>
              <a:rPr lang="en-US" altLang="zh-TW" dirty="0"/>
              <a:t>Antenna/docs/</a:t>
            </a:r>
            <a:r>
              <a:rPr lang="zh-TW" altLang="en-US" dirty="0"/>
              <a:t>進度報告</a:t>
            </a:r>
            <a:r>
              <a:rPr lang="en-US" altLang="zh-TW" dirty="0"/>
              <a:t>/09</a:t>
            </a:r>
            <a:r>
              <a:rPr lang="zh-TW" altLang="en-US" dirty="0"/>
              <a:t>月</a:t>
            </a:r>
            <a:r>
              <a:rPr lang="en-US" altLang="zh-TW" dirty="0"/>
              <a:t>/handoff_dual_page01.png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5811E-D10F-48C4-88EB-A6ADFE3F5DF4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33036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來源：</a:t>
            </a:r>
            <a:r>
              <a:rPr lang="en-US" altLang="zh-TW"/>
              <a:t>docs/</a:t>
            </a:r>
            <a:r>
              <a:rPr lang="zh-TW" altLang="en-US"/>
              <a:t>進度報告</a:t>
            </a:r>
            <a:r>
              <a:rPr lang="en-US" altLang="zh-TW"/>
              <a:t>/07</a:t>
            </a:r>
            <a:r>
              <a:rPr lang="zh-TW" altLang="en-US"/>
              <a:t>月</a:t>
            </a:r>
            <a:r>
              <a:rPr lang="en-US" altLang="zh-TW"/>
              <a:t>/</a:t>
            </a:r>
            <a:r>
              <a:rPr lang="zh-TW" altLang="en-US"/>
              <a:t>進度報告</a:t>
            </a:r>
            <a:r>
              <a:rPr lang="en-US" altLang="zh-TW"/>
              <a:t>_v2.md §1–2</a:t>
            </a:r>
            <a:r>
              <a:rPr lang="zh-TW" altLang="en-US"/>
              <a:t>；</a:t>
            </a:r>
            <a:r>
              <a:rPr lang="en-US" altLang="zh-TW"/>
              <a:t>docs/</a:t>
            </a:r>
            <a:r>
              <a:rPr lang="zh-TW" altLang="en-US"/>
              <a:t>進度報告</a:t>
            </a:r>
            <a:r>
              <a:rPr lang="en-US" altLang="zh-TW"/>
              <a:t>/07</a:t>
            </a:r>
            <a:r>
              <a:rPr lang="zh-TW" altLang="en-US"/>
              <a:t>月</a:t>
            </a:r>
            <a:r>
              <a:rPr lang="en-US" altLang="zh-TW"/>
              <a:t>/</a:t>
            </a:r>
            <a:r>
              <a:rPr lang="zh-TW" altLang="en-US"/>
              <a:t>進度報告</a:t>
            </a:r>
            <a:r>
              <a:rPr lang="en-US" altLang="zh-TW"/>
              <a:t>_2026-07.md §8.1</a:t>
            </a:r>
            <a:r>
              <a:rPr lang="zh-TW" altLang="en-US"/>
              <a:t>；</a:t>
            </a:r>
            <a:r>
              <a:rPr lang="en-US" altLang="zh-TW"/>
              <a:t>docs/methodology-divergences.md D22</a:t>
            </a:r>
            <a:r>
              <a:rPr lang="zh-TW" altLang="en-US"/>
              <a:t>。</a:t>
            </a:r>
            <a:r>
              <a:rPr lang="en-US" altLang="zh-TW"/>
              <a:t>278 </a:t>
            </a:r>
            <a:r>
              <a:rPr lang="zh-TW" altLang="en-US"/>
              <a:t>秒</a:t>
            </a:r>
            <a:r>
              <a:rPr lang="en-US" altLang="zh-TW"/>
              <a:t>/epoch </a:t>
            </a:r>
            <a:r>
              <a:rPr lang="zh-TW" altLang="en-US"/>
              <a:t>為單次正式機 </a:t>
            </a:r>
            <a:r>
              <a:rPr lang="en-US" altLang="zh-TW"/>
              <a:t>profiling</a:t>
            </a:r>
            <a:r>
              <a:rPr lang="zh-TW" altLang="en-US"/>
              <a:t>，</a:t>
            </a:r>
            <a:r>
              <a:rPr lang="en-US" altLang="zh-TW"/>
              <a:t>HFSS </a:t>
            </a:r>
            <a:r>
              <a:rPr lang="zh-TW" altLang="en-US"/>
              <a:t>約</a:t>
            </a:r>
            <a:r>
              <a:rPr lang="en-US" altLang="zh-TW"/>
              <a:t>170</a:t>
            </a:r>
            <a:r>
              <a:rPr lang="zh-TW" altLang="en-US"/>
              <a:t>秒；批次線中位</a:t>
            </a:r>
            <a:r>
              <a:rPr lang="en-US" altLang="zh-TW"/>
              <a:t>160</a:t>
            </a:r>
            <a:r>
              <a:rPr lang="zh-TW" altLang="en-US"/>
              <a:t>秒</a:t>
            </a:r>
            <a:r>
              <a:rPr lang="en-US" altLang="zh-TW"/>
              <a:t>/</a:t>
            </a:r>
            <a:r>
              <a:rPr lang="zh-TW" altLang="en-US"/>
              <a:t>筆。不可推算同條件加速倍率。原生可編輯流程圖為依上述來源重繪。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5811E-D10F-48C4-88EB-A6ADFE3F5DF4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73923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來源：</a:t>
            </a:r>
            <a:r>
              <a:rPr lang="en-US" altLang="zh-TW"/>
              <a:t>docs/</a:t>
            </a:r>
            <a:r>
              <a:rPr lang="zh-TW" altLang="en-US"/>
              <a:t>進度報告</a:t>
            </a:r>
            <a:r>
              <a:rPr lang="en-US" altLang="zh-TW"/>
              <a:t>/07</a:t>
            </a:r>
            <a:r>
              <a:rPr lang="zh-TW" altLang="en-US"/>
              <a:t>月</a:t>
            </a:r>
            <a:r>
              <a:rPr lang="en-US" altLang="zh-TW"/>
              <a:t>/</a:t>
            </a:r>
            <a:r>
              <a:rPr lang="zh-TW" altLang="en-US"/>
              <a:t>進度報告</a:t>
            </a:r>
            <a:r>
              <a:rPr lang="en-US" altLang="zh-TW"/>
              <a:t>_v2.md</a:t>
            </a:r>
            <a:r>
              <a:rPr lang="zh-TW" altLang="en-US"/>
              <a:t>；</a:t>
            </a:r>
            <a:r>
              <a:rPr lang="en-US" altLang="zh-TW"/>
              <a:t>docs/log/round-07-dedust.md §4–5</a:t>
            </a:r>
            <a:r>
              <a:rPr lang="zh-TW" altLang="en-US"/>
              <a:t>；</a:t>
            </a:r>
            <a:r>
              <a:rPr lang="en-US" altLang="zh-TW"/>
              <a:t>docs/log/round-09-pool-revalidation.md</a:t>
            </a:r>
            <a:r>
              <a:rPr lang="zh-TW" altLang="en-US"/>
              <a:t>；</a:t>
            </a:r>
            <a:r>
              <a:rPr lang="en-US" altLang="zh-TW"/>
              <a:t>docs/log/round-10-refine-attribution.md</a:t>
            </a:r>
            <a:r>
              <a:rPr lang="zh-TW" altLang="en-US"/>
              <a:t>。圖樣取自</a:t>
            </a:r>
            <a:r>
              <a:rPr lang="en-US" altLang="zh-TW"/>
              <a:t>07</a:t>
            </a:r>
            <a:r>
              <a:rPr lang="zh-TW" altLang="en-US"/>
              <a:t>月</a:t>
            </a:r>
            <a:r>
              <a:rPr lang="en-US" altLang="zh-TW"/>
              <a:t>/</a:t>
            </a:r>
            <a:r>
              <a:rPr lang="zh-TW" altLang="en-US"/>
              <a:t>對稱化實例</a:t>
            </a:r>
            <a:r>
              <a:rPr lang="en-US" altLang="zh-TW"/>
              <a:t>.png</a:t>
            </a:r>
            <a:r>
              <a:rPr lang="zh-TW" altLang="en-US"/>
              <a:t>的左右原圖部分，以</a:t>
            </a:r>
            <a:r>
              <a:rPr lang="en-US" altLang="zh-TW"/>
              <a:t>PPT</a:t>
            </a:r>
            <a:r>
              <a:rPr lang="zh-TW" altLang="en-US"/>
              <a:t>原生裁切放大；無修改像素。</a:t>
            </a:r>
            <a:r>
              <a:rPr lang="en-US" altLang="zh-TW"/>
              <a:t>F2 wm</a:t>
            </a:r>
            <a:r>
              <a:rPr lang="zh-TW" altLang="en-US"/>
              <a:t>以重測−</a:t>
            </a:r>
            <a:r>
              <a:rPr lang="en-US" altLang="zh-TW"/>
              <a:t>1.42</a:t>
            </a:r>
            <a:r>
              <a:rPr lang="zh-TW" altLang="en-US"/>
              <a:t>為準，不採歷史池−</a:t>
            </a:r>
            <a:r>
              <a:rPr lang="en-US" altLang="zh-TW"/>
              <a:t>0.01</a:t>
            </a:r>
            <a:r>
              <a:rPr lang="zh-TW" altLang="en-US"/>
              <a:t>。此處可製造性僅指像素幾何判準，非已完成製程或實物驗證。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5811E-D10F-48C4-88EB-A6ADFE3F5DF4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72274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來源：</a:t>
            </a:r>
            <a:r>
              <a:rPr lang="en-US" altLang="zh-TW"/>
              <a:t>docs/</a:t>
            </a:r>
            <a:r>
              <a:rPr lang="zh-TW" altLang="en-US"/>
              <a:t>進度報告</a:t>
            </a:r>
            <a:r>
              <a:rPr lang="en-US" altLang="zh-TW"/>
              <a:t>/07</a:t>
            </a:r>
            <a:r>
              <a:rPr lang="zh-TW" altLang="en-US"/>
              <a:t>月</a:t>
            </a:r>
            <a:r>
              <a:rPr lang="en-US" altLang="zh-TW"/>
              <a:t>/</a:t>
            </a:r>
            <a:r>
              <a:rPr lang="zh-TW" altLang="en-US"/>
              <a:t>進度報告</a:t>
            </a:r>
            <a:r>
              <a:rPr lang="en-US" altLang="zh-TW"/>
              <a:t>_v2.md §7.1–7.3</a:t>
            </a:r>
            <a:r>
              <a:rPr lang="zh-TW" altLang="en-US"/>
              <a:t>；</a:t>
            </a:r>
            <a:r>
              <a:rPr lang="en-US" altLang="zh-TW"/>
              <a:t>07</a:t>
            </a:r>
            <a:r>
              <a:rPr lang="zh-TW" altLang="en-US"/>
              <a:t>月</a:t>
            </a:r>
            <a:r>
              <a:rPr lang="en-US" altLang="zh-TW"/>
              <a:t>/</a:t>
            </a:r>
            <a:r>
              <a:rPr lang="zh-TW" altLang="en-US"/>
              <a:t>多樣性</a:t>
            </a:r>
            <a:r>
              <a:rPr lang="en-US" altLang="zh-TW"/>
              <a:t>gallery_slide.png</a:t>
            </a:r>
            <a:r>
              <a:rPr lang="zh-TW" altLang="en-US"/>
              <a:t>。兩個圖樣以</a:t>
            </a:r>
            <a:r>
              <a:rPr lang="en-US" altLang="zh-TW"/>
              <a:t>PPT</a:t>
            </a:r>
            <a:r>
              <a:rPr lang="zh-TW" altLang="en-US"/>
              <a:t>原生裁切取原圖左右區域，不改動像素。數字為圖面快照：</a:t>
            </a:r>
            <a:r>
              <a:rPr lang="en-US" altLang="zh-TW"/>
              <a:t>1575</a:t>
            </a:r>
            <a:r>
              <a:rPr lang="zh-TW" altLang="en-US"/>
              <a:t>、</a:t>
            </a:r>
            <a:r>
              <a:rPr lang="en-US" altLang="zh-TW"/>
              <a:t>66</a:t>
            </a:r>
            <a:r>
              <a:rPr lang="zh-TW" altLang="en-US"/>
              <a:t>、</a:t>
            </a:r>
            <a:r>
              <a:rPr lang="en-US" altLang="zh-TW"/>
              <a:t>607</a:t>
            </a:r>
            <a:r>
              <a:rPr lang="zh-TW" altLang="en-US"/>
              <a:t>、</a:t>
            </a:r>
            <a:r>
              <a:rPr lang="en-US" altLang="zh-TW"/>
              <a:t>412</a:t>
            </a:r>
            <a:r>
              <a:rPr lang="zh-TW" altLang="en-US"/>
              <a:t>；</a:t>
            </a:r>
            <a:r>
              <a:rPr lang="en-US" altLang="zh-TW"/>
              <a:t>S11/Gain/radiation</a:t>
            </a:r>
            <a:r>
              <a:rPr lang="zh-TW" altLang="en-US"/>
              <a:t>餘裕分別</a:t>
            </a:r>
            <a:r>
              <a:rPr lang="en-US" altLang="zh-TW"/>
              <a:t>1.11/0.05/0.36</a:t>
            </a:r>
            <a:r>
              <a:rPr lang="zh-TW" altLang="en-US"/>
              <a:t>及</a:t>
            </a:r>
            <a:r>
              <a:rPr lang="en-US" altLang="zh-TW"/>
              <a:t>1.19/0.15/0.13 dB</a:t>
            </a:r>
            <a:r>
              <a:rPr lang="zh-TW" altLang="en-US"/>
              <a:t>。統計條件為 </a:t>
            </a:r>
            <a:r>
              <a:rPr lang="en-US" altLang="zh-TW"/>
              <a:t>wm≥0 </a:t>
            </a:r>
            <a:r>
              <a:rPr lang="zh-TW" altLang="en-US"/>
              <a:t>且 </a:t>
            </a:r>
            <a:r>
              <a:rPr lang="en-US" altLang="zh-TW"/>
              <a:t>rad_margin≥0</a:t>
            </a:r>
            <a:r>
              <a:rPr lang="zh-TW" altLang="en-US"/>
              <a:t>，未以帶外作篩選。不得作為月底全池統計、均勻隨機搜尋成功率或實物製造良率。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5811E-D10F-48C4-88EB-A6ADFE3F5DF4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04958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來源：</a:t>
            </a:r>
            <a:r>
              <a:rPr lang="en-US" altLang="zh-TW"/>
              <a:t>docs/</a:t>
            </a:r>
            <a:r>
              <a:rPr lang="zh-TW" altLang="en-US"/>
              <a:t>進度報告</a:t>
            </a:r>
            <a:r>
              <a:rPr lang="en-US" altLang="zh-TW"/>
              <a:t>/08</a:t>
            </a:r>
            <a:r>
              <a:rPr lang="zh-TW" altLang="en-US"/>
              <a:t>月</a:t>
            </a:r>
            <a:r>
              <a:rPr lang="en-US" altLang="zh-TW"/>
              <a:t>/</a:t>
            </a:r>
            <a:r>
              <a:rPr lang="zh-TW" altLang="en-US"/>
              <a:t>八月份進度報告</a:t>
            </a:r>
            <a:r>
              <a:rPr lang="en-US" altLang="zh-TW"/>
              <a:t>.md §1</a:t>
            </a:r>
            <a:r>
              <a:rPr lang="zh-TW" altLang="en-US"/>
              <a:t>；</a:t>
            </a:r>
            <a:r>
              <a:rPr lang="en-US" altLang="zh-TW"/>
              <a:t>ui_06_mfg.png</a:t>
            </a:r>
            <a:r>
              <a:rPr lang="zh-TW" altLang="en-US"/>
              <a:t>。</a:t>
            </a:r>
            <a:r>
              <a:rPr lang="en-US" altLang="zh-TW"/>
              <a:t>08</a:t>
            </a:r>
            <a:r>
              <a:rPr lang="zh-TW" altLang="en-US"/>
              <a:t>月</a:t>
            </a:r>
            <a:r>
              <a:rPr lang="en-US" altLang="zh-TW"/>
              <a:t>MD</a:t>
            </a:r>
            <a:r>
              <a:rPr lang="zh-TW" altLang="en-US"/>
              <a:t>記錄</a:t>
            </a:r>
            <a:r>
              <a:rPr lang="en-US" altLang="zh-TW"/>
              <a:t>38972</a:t>
            </a:r>
            <a:r>
              <a:rPr lang="zh-TW" altLang="en-US"/>
              <a:t>筆，較晚的總覽截圖</a:t>
            </a:r>
            <a:r>
              <a:rPr lang="en-US" altLang="zh-TW"/>
              <a:t>39111</a:t>
            </a:r>
            <a:r>
              <a:rPr lang="zh-TW" altLang="en-US"/>
              <a:t>筆，因此以約</a:t>
            </a:r>
            <a:r>
              <a:rPr lang="en-US" altLang="zh-TW"/>
              <a:t>3.9</a:t>
            </a:r>
            <a:r>
              <a:rPr lang="zh-TW" altLang="en-US"/>
              <a:t>萬描述規模。製造視角截圖以</a:t>
            </a:r>
            <a:r>
              <a:rPr lang="en-US" altLang="zh-TW"/>
              <a:t>db100_wm</a:t>
            </a:r>
            <a:r>
              <a:rPr lang="zh-TW" altLang="en-US"/>
              <a:t>排序，為菱形化之後的</a:t>
            </a:r>
            <a:r>
              <a:rPr lang="en-US" altLang="zh-TW"/>
              <a:t>HFSS</a:t>
            </a:r>
            <a:r>
              <a:rPr lang="zh-TW" altLang="en-US"/>
              <a:t>結果；不是實測。截圖以</a:t>
            </a:r>
            <a:r>
              <a:rPr lang="en-US" altLang="zh-TW"/>
              <a:t>PPT</a:t>
            </a:r>
            <a:r>
              <a:rPr lang="zh-TW" altLang="en-US"/>
              <a:t>原生裁切放大上方控制及前三列，未改動原始數值。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5811E-D10F-48C4-88EB-A6ADFE3F5DF4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58716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來源：</a:t>
            </a:r>
            <a:r>
              <a:rPr lang="en-US" altLang="zh-TW"/>
              <a:t>docs/log/round-70-dual-mfg-founding.md</a:t>
            </a:r>
            <a:r>
              <a:rPr lang="zh-TW" altLang="en-US"/>
              <a:t>；</a:t>
            </a:r>
            <a:r>
              <a:rPr lang="en-US" altLang="zh-TW"/>
              <a:t>docs/log/round-71-dual-dynasty-mining.md §4</a:t>
            </a:r>
            <a:r>
              <a:rPr lang="zh-TW" altLang="en-US"/>
              <a:t>；</a:t>
            </a:r>
            <a:r>
              <a:rPr lang="en-US" altLang="zh-TW"/>
              <a:t>antenna/patch/patch_simulator/dual_port.py:433–446</a:t>
            </a:r>
            <a:r>
              <a:rPr lang="zh-TW" altLang="en-US"/>
              <a:t>。</a:t>
            </a:r>
            <a:r>
              <a:rPr lang="en-US" altLang="zh-TW"/>
              <a:t>diag_bridge_w</a:t>
            </a:r>
            <a:r>
              <a:rPr lang="zh-TW" altLang="en-US"/>
              <a:t>是旋轉前</a:t>
            </a:r>
            <a:r>
              <a:rPr lang="en-US" altLang="zh-TW"/>
              <a:t>w×w</a:t>
            </a:r>
            <a:r>
              <a:rPr lang="zh-TW" altLang="en-US"/>
              <a:t>正方形邊長，非旋轉後水平對角長。</a:t>
            </a:r>
            <a:r>
              <a:rPr lang="en-US" altLang="zh-TW"/>
              <a:t>R71</a:t>
            </a:r>
            <a:r>
              <a:rPr lang="zh-TW" altLang="en-US"/>
              <a:t>單一冠軍三態：</a:t>
            </a:r>
            <a:r>
              <a:rPr lang="en-US" altLang="zh-TW"/>
              <a:t>0.075 mm −3.82</a:t>
            </a:r>
            <a:r>
              <a:rPr lang="zh-TW" altLang="en-US"/>
              <a:t>公證；</a:t>
            </a:r>
            <a:r>
              <a:rPr lang="en-US" altLang="zh-TW"/>
              <a:t>0.01 mm −6.86</a:t>
            </a:r>
            <a:r>
              <a:rPr lang="zh-TW" altLang="en-US"/>
              <a:t>單次；切角−</a:t>
            </a:r>
            <a:r>
              <a:rPr lang="en-US" altLang="zh-TW"/>
              <a:t>31.03</a:t>
            </a:r>
            <a:r>
              <a:rPr lang="zh-TW" altLang="en-US"/>
              <a:t>單次。這是八月研究條件；九月送板幾何以主報告</a:t>
            </a:r>
            <a:r>
              <a:rPr lang="en-US" altLang="zh-TW"/>
              <a:t>§2</a:t>
            </a:r>
            <a:r>
              <a:rPr lang="zh-TW" altLang="en-US"/>
              <a:t>為準。不將單一探針泛化為族群平均，不宣稱已有製程或實物驗證。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5811E-D10F-48C4-88EB-A6ADFE3F5DF4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41981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來源：</a:t>
            </a:r>
            <a:r>
              <a:rPr lang="en-US" altLang="zh-TW"/>
              <a:t>docs/</a:t>
            </a:r>
            <a:r>
              <a:rPr lang="zh-TW" altLang="en-US"/>
              <a:t>進度報告</a:t>
            </a:r>
            <a:r>
              <a:rPr lang="en-US" altLang="zh-TW"/>
              <a:t>/08</a:t>
            </a:r>
            <a:r>
              <a:rPr lang="zh-TW" altLang="en-US"/>
              <a:t>月</a:t>
            </a:r>
            <a:r>
              <a:rPr lang="en-US" altLang="zh-TW"/>
              <a:t>/</a:t>
            </a:r>
            <a:r>
              <a:rPr lang="zh-TW" altLang="en-US"/>
              <a:t>八月份進度報告</a:t>
            </a:r>
            <a:r>
              <a:rPr lang="en-US" altLang="zh-TW"/>
              <a:t>.md §2</a:t>
            </a:r>
            <a:r>
              <a:rPr lang="zh-TW" altLang="en-US"/>
              <a:t>；</a:t>
            </a:r>
            <a:r>
              <a:rPr lang="en-US" altLang="zh-TW"/>
              <a:t>dual_progress.png</a:t>
            </a:r>
            <a:r>
              <a:rPr lang="zh-TW" altLang="en-US"/>
              <a:t>；</a:t>
            </a:r>
            <a:r>
              <a:rPr lang="en-US" altLang="zh-TW"/>
              <a:t>dual_ladder.png</a:t>
            </a:r>
            <a:r>
              <a:rPr lang="zh-TW" altLang="en-US"/>
              <a:t>；</a:t>
            </a:r>
            <a:r>
              <a:rPr lang="en-US" altLang="zh-TW"/>
              <a:t>docs/records_dual.json</a:t>
            </a:r>
            <a:r>
              <a:rPr lang="zh-TW" altLang="en-US"/>
              <a:t>。</a:t>
            </a:r>
            <a:r>
              <a:rPr lang="en-US" altLang="zh-TW"/>
              <a:t>8/13</a:t>
            </a:r>
            <a:r>
              <a:rPr lang="zh-TW" altLang="en-US"/>
              <a:t>幾何換代後</a:t>
            </a:r>
            <a:r>
              <a:rPr lang="en-US" altLang="zh-TW"/>
              <a:t>wm_mfg</a:t>
            </a:r>
            <a:r>
              <a:rPr lang="zh-TW" altLang="en-US"/>
              <a:t>由−</a:t>
            </a:r>
            <a:r>
              <a:rPr lang="en-US" altLang="zh-TW"/>
              <a:t>5.90</a:t>
            </a:r>
            <a:r>
              <a:rPr lang="zh-TW" altLang="en-US"/>
              <a:t>到</a:t>
            </a:r>
            <a:r>
              <a:rPr lang="en-US" altLang="zh-TW"/>
              <a:t>8/24−2.39</a:t>
            </a:r>
            <a:r>
              <a:rPr lang="zh-TW" altLang="en-US"/>
              <a:t>，改善</a:t>
            </a:r>
            <a:r>
              <a:rPr lang="en-US" altLang="zh-TW"/>
              <a:t>3.51dB</a:t>
            </a:r>
            <a:r>
              <a:rPr lang="zh-TW" altLang="en-US"/>
              <a:t>，</a:t>
            </a:r>
            <a:r>
              <a:rPr lang="en-US" altLang="zh-TW"/>
              <a:t>17</a:t>
            </a:r>
            <a:r>
              <a:rPr lang="zh-TW" altLang="en-US"/>
              <a:t>次刷新；</a:t>
            </a:r>
            <a:r>
              <a:rPr lang="en-US" altLang="zh-TW"/>
              <a:t>8/11–8/24</a:t>
            </a:r>
            <a:r>
              <a:rPr lang="zh-TW" altLang="en-US"/>
              <a:t>完成</a:t>
            </a:r>
            <a:r>
              <a:rPr lang="en-US" altLang="zh-TW"/>
              <a:t>R57–R79</a:t>
            </a:r>
            <a:r>
              <a:rPr lang="zh-TW" altLang="en-US"/>
              <a:t>共</a:t>
            </a:r>
            <a:r>
              <a:rPr lang="en-US" altLang="zh-TW"/>
              <a:t>23</a:t>
            </a:r>
            <a:r>
              <a:rPr lang="zh-TW" altLang="en-US"/>
              <a:t>輪。代表圖样以</a:t>
            </a:r>
            <a:r>
              <a:rPr lang="en-US" altLang="zh-TW"/>
              <a:t>PPT</a:t>
            </a:r>
            <a:r>
              <a:rPr lang="zh-TW" altLang="en-US"/>
              <a:t>原生裁切取最初與最末圖，不修改像素</a:t>
            </a:r>
            <a:r>
              <a:rPr lang="en-US" altLang="zh-TW"/>
              <a:t>/</a:t>
            </a:r>
            <a:r>
              <a:rPr lang="zh-TW" altLang="en-US"/>
              <a:t>方向。未採用含−</a:t>
            </a:r>
            <a:r>
              <a:rPr lang="en-US" altLang="zh-TW"/>
              <a:t>2.30</a:t>
            </a:r>
            <a:r>
              <a:rPr lang="zh-TW" altLang="en-US"/>
              <a:t>理論上界的舊圖；該上界不可作理論保證。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5811E-D10F-48C4-88EB-A6ADFE3F5DF4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469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1214100" y="6451600"/>
            <a:ext cx="4318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altLang="zh-TW" sz="11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1</a:t>
            </a:r>
            <a:endParaRPr lang="zh-TW" sz="1100"/>
          </a:p>
        </p:txBody>
      </p:sp>
      <p:cxnSp>
        <p:nvCxnSpPr>
          <p:cNvPr id="3" name="Connector 3"/>
          <p:cNvCxnSpPr/>
          <p:nvPr/>
        </p:nvCxnSpPr>
        <p:spPr>
          <a:xfrm>
            <a:off x="825500" y="1905000"/>
            <a:ext cx="0" cy="2374900"/>
          </a:xfrm>
          <a:prstGeom prst="line">
            <a:avLst/>
          </a:prstGeom>
          <a:ln w="50800">
            <a:solidFill>
              <a:srgbClr val="245B85"/>
            </a:solidFill>
          </a:ln>
        </p:spPr>
      </p:cxnSp>
      <p:sp>
        <p:nvSpPr>
          <p:cNvPr id="4" name="Text 4"/>
          <p:cNvSpPr/>
          <p:nvPr/>
        </p:nvSpPr>
        <p:spPr>
          <a:xfrm>
            <a:off x="1219200" y="1968500"/>
            <a:ext cx="10033000" cy="8255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4200" b="1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天線反向設計</a:t>
            </a:r>
            <a:endParaRPr lang="zh-TW" sz="4200"/>
          </a:p>
        </p:txBody>
      </p:sp>
      <p:sp>
        <p:nvSpPr>
          <p:cNvPr id="5" name="Text 5"/>
          <p:cNvSpPr/>
          <p:nvPr/>
        </p:nvSpPr>
        <p:spPr>
          <a:xfrm>
            <a:off x="1219200" y="2857500"/>
            <a:ext cx="10033000" cy="673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3200" b="0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九月份進度報告</a:t>
            </a:r>
            <a:endParaRPr lang="zh-TW" sz="3200"/>
          </a:p>
        </p:txBody>
      </p:sp>
      <p:sp>
        <p:nvSpPr>
          <p:cNvPr id="6" name="Text 6"/>
          <p:cNvSpPr/>
          <p:nvPr/>
        </p:nvSpPr>
        <p:spPr>
          <a:xfrm>
            <a:off x="1244600" y="3873500"/>
            <a:ext cx="10033000" cy="533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230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設計交付與 emforge 模擬搜尋框架</a:t>
            </a:r>
            <a:endParaRPr lang="zh-TW" sz="2300"/>
          </a:p>
        </p:txBody>
      </p:sp>
      <p:sp>
        <p:nvSpPr>
          <p:cNvPr id="7" name="Text 7"/>
          <p:cNvSpPr/>
          <p:nvPr/>
        </p:nvSpPr>
        <p:spPr>
          <a:xfrm>
            <a:off x="1244600" y="5194300"/>
            <a:ext cx="8890000" cy="762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800" b="0" dirty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鄒穎麒</a:t>
            </a:r>
            <a:endParaRPr lang="zh-TW" sz="1800" dirty="0"/>
          </a:p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800" b="0" dirty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2026.09</a:t>
            </a:r>
            <a:endParaRPr lang="zh-TW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3400" y="330200"/>
            <a:ext cx="11125200" cy="584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3000" b="1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九月工作範圍</a:t>
            </a:r>
            <a:endParaRPr lang="zh-TW" sz="3000"/>
          </a:p>
        </p:txBody>
      </p:sp>
      <p:cxnSp>
        <p:nvCxnSpPr>
          <p:cNvPr id="3" name="Connector 3"/>
          <p:cNvCxnSpPr/>
          <p:nvPr/>
        </p:nvCxnSpPr>
        <p:spPr>
          <a:xfrm>
            <a:off x="533400" y="1041400"/>
            <a:ext cx="11125200" cy="0"/>
          </a:xfrm>
          <a:prstGeom prst="line">
            <a:avLst/>
          </a:prstGeom>
          <a:ln w="10160">
            <a:solidFill>
              <a:srgbClr val="CCD8E2"/>
            </a:solidFill>
          </a:ln>
        </p:spPr>
      </p:cxnSp>
      <p:cxnSp>
        <p:nvCxnSpPr>
          <p:cNvPr id="4" name="Connector 4"/>
          <p:cNvCxnSpPr/>
          <p:nvPr/>
        </p:nvCxnSpPr>
        <p:spPr>
          <a:xfrm>
            <a:off x="533400" y="1041400"/>
            <a:ext cx="1244600" cy="0"/>
          </a:xfrm>
          <a:prstGeom prst="line">
            <a:avLst/>
          </a:prstGeom>
          <a:ln w="30480">
            <a:solidFill>
              <a:srgbClr val="245B85"/>
            </a:solidFill>
          </a:ln>
        </p:spPr>
      </p:cxnSp>
      <p:sp>
        <p:nvSpPr>
          <p:cNvPr id="5" name="Text 5"/>
          <p:cNvSpPr/>
          <p:nvPr/>
        </p:nvSpPr>
        <p:spPr>
          <a:xfrm>
            <a:off x="11214100" y="6451600"/>
            <a:ext cx="4318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altLang="zh-TW" sz="11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endParaRPr lang="zh-TW" sz="1100"/>
          </a:p>
        </p:txBody>
      </p:sp>
      <p:sp>
        <p:nvSpPr>
          <p:cNvPr id="6" name="Text 6"/>
          <p:cNvSpPr/>
          <p:nvPr/>
        </p:nvSpPr>
        <p:spPr>
          <a:xfrm>
            <a:off x="533400" y="6388100"/>
            <a:ext cx="104394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15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報告截至 2026-09-13，承接八月底成果。</a:t>
            </a:r>
            <a:endParaRPr lang="zh-TW" sz="1150"/>
          </a:p>
        </p:txBody>
      </p:sp>
      <p:sp>
        <p:nvSpPr>
          <p:cNvPr id="7" name="Text 7"/>
          <p:cNvSpPr/>
          <p:nvPr/>
        </p:nvSpPr>
        <p:spPr>
          <a:xfrm>
            <a:off x="533400" y="1574800"/>
            <a:ext cx="1841500" cy="482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2000" b="1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08/31</a:t>
            </a:r>
            <a:endParaRPr lang="zh-TW" sz="2000"/>
          </a:p>
        </p:txBody>
      </p:sp>
      <p:sp>
        <p:nvSpPr>
          <p:cNvPr id="8" name="Text 8"/>
          <p:cNvSpPr/>
          <p:nvPr/>
        </p:nvSpPr>
        <p:spPr>
          <a:xfrm>
            <a:off x="2794000" y="1574800"/>
            <a:ext cx="85090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2000" b="1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設計交付</a:t>
            </a:r>
            <a:endParaRPr lang="zh-TW" sz="2000"/>
          </a:p>
        </p:txBody>
      </p:sp>
      <p:sp>
        <p:nvSpPr>
          <p:cNvPr id="9" name="Text 9"/>
          <p:cNvSpPr/>
          <p:nvPr/>
        </p:nvSpPr>
        <p:spPr>
          <a:xfrm>
            <a:off x="2794000" y="2070100"/>
            <a:ext cx="8509000" cy="863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90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25 個天線、14 個濾波器設計匯出為 HFSS 檔，等待製造與實體量測。</a:t>
            </a:r>
            <a:endParaRPr lang="zh-TW" sz="1900"/>
          </a:p>
        </p:txBody>
      </p:sp>
      <p:cxnSp>
        <p:nvCxnSpPr>
          <p:cNvPr id="10" name="Connector 10"/>
          <p:cNvCxnSpPr/>
          <p:nvPr/>
        </p:nvCxnSpPr>
        <p:spPr>
          <a:xfrm>
            <a:off x="533400" y="2806700"/>
            <a:ext cx="11125200" cy="0"/>
          </a:xfrm>
          <a:prstGeom prst="line">
            <a:avLst/>
          </a:prstGeom>
          <a:ln w="8890">
            <a:solidFill>
              <a:srgbClr val="CCD8E2"/>
            </a:solidFill>
          </a:ln>
        </p:spPr>
      </p:cxnSp>
      <p:sp>
        <p:nvSpPr>
          <p:cNvPr id="11" name="Text 11"/>
          <p:cNvSpPr/>
          <p:nvPr/>
        </p:nvSpPr>
        <p:spPr>
          <a:xfrm>
            <a:off x="533400" y="3060700"/>
            <a:ext cx="1841500" cy="482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2000" b="1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09/01–12</a:t>
            </a:r>
            <a:endParaRPr lang="zh-TW" sz="2000"/>
          </a:p>
        </p:txBody>
      </p:sp>
      <p:sp>
        <p:nvSpPr>
          <p:cNvPr id="12" name="Text 12"/>
          <p:cNvSpPr/>
          <p:nvPr/>
        </p:nvSpPr>
        <p:spPr>
          <a:xfrm>
            <a:off x="2794000" y="3060700"/>
            <a:ext cx="85090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2000" b="1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emforge 框架實作</a:t>
            </a:r>
            <a:endParaRPr lang="zh-TW" sz="2000"/>
          </a:p>
        </p:txBody>
      </p:sp>
      <p:sp>
        <p:nvSpPr>
          <p:cNvPr id="13" name="Text 13"/>
          <p:cNvSpPr/>
          <p:nvPr/>
        </p:nvSpPr>
        <p:spPr>
          <a:xfrm>
            <a:off x="2794000" y="3556000"/>
            <a:ext cx="8509000" cy="863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900" b="0" dirty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分開算法、派工、模擬及評估，建立可追溯的多機搜尋流程。</a:t>
            </a:r>
            <a:endParaRPr lang="zh-TW" sz="1900" dirty="0"/>
          </a:p>
        </p:txBody>
      </p:sp>
      <p:cxnSp>
        <p:nvCxnSpPr>
          <p:cNvPr id="14" name="Connector 14"/>
          <p:cNvCxnSpPr/>
          <p:nvPr/>
        </p:nvCxnSpPr>
        <p:spPr>
          <a:xfrm>
            <a:off x="533400" y="4292600"/>
            <a:ext cx="11125200" cy="0"/>
          </a:xfrm>
          <a:prstGeom prst="line">
            <a:avLst/>
          </a:prstGeom>
          <a:ln w="8890">
            <a:solidFill>
              <a:srgbClr val="CCD8E2"/>
            </a:solidFill>
          </a:ln>
        </p:spPr>
      </p:cxnSp>
      <p:sp>
        <p:nvSpPr>
          <p:cNvPr id="15" name="Text 15"/>
          <p:cNvSpPr/>
          <p:nvPr/>
        </p:nvSpPr>
        <p:spPr>
          <a:xfrm>
            <a:off x="533400" y="4546600"/>
            <a:ext cx="1841500" cy="482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2000" b="1" dirty="0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09/12</a:t>
            </a:r>
            <a:r>
              <a:rPr lang="zh-TW" altLang="en-US" sz="2000" b="1" dirty="0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lang="en-US" altLang="zh-TW" sz="2000" b="1" dirty="0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~</a:t>
            </a:r>
            <a:endParaRPr lang="zh-TW" sz="2000" dirty="0"/>
          </a:p>
        </p:txBody>
      </p:sp>
      <p:sp>
        <p:nvSpPr>
          <p:cNvPr id="16" name="Text 16"/>
          <p:cNvSpPr/>
          <p:nvPr/>
        </p:nvSpPr>
        <p:spPr>
          <a:xfrm>
            <a:off x="2794000" y="4546600"/>
            <a:ext cx="85090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2000" b="1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平台與修正版驗證</a:t>
            </a:r>
            <a:endParaRPr lang="zh-TW" sz="2000"/>
          </a:p>
        </p:txBody>
      </p:sp>
      <p:sp>
        <p:nvSpPr>
          <p:cNvPr id="17" name="Text 17"/>
          <p:cNvSpPr/>
          <p:nvPr/>
        </p:nvSpPr>
        <p:spPr>
          <a:xfrm>
            <a:off x="2794000" y="5041900"/>
            <a:ext cx="8509000" cy="863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90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三台 HFSS 完成初步驗收。後續可靠性修正通過本機與隔離發布包測試。</a:t>
            </a:r>
            <a:endParaRPr lang="zh-TW"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3400" y="330200"/>
            <a:ext cx="11125200" cy="584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3000" b="1" dirty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送板資料</a:t>
            </a:r>
            <a:endParaRPr lang="zh-TW" sz="3000" dirty="0"/>
          </a:p>
        </p:txBody>
      </p:sp>
      <p:cxnSp>
        <p:nvCxnSpPr>
          <p:cNvPr id="3" name="Connector 3"/>
          <p:cNvCxnSpPr/>
          <p:nvPr/>
        </p:nvCxnSpPr>
        <p:spPr>
          <a:xfrm>
            <a:off x="533400" y="1041400"/>
            <a:ext cx="11125200" cy="0"/>
          </a:xfrm>
          <a:prstGeom prst="line">
            <a:avLst/>
          </a:prstGeom>
          <a:ln w="10160">
            <a:solidFill>
              <a:srgbClr val="CCD8E2"/>
            </a:solidFill>
          </a:ln>
        </p:spPr>
      </p:cxnSp>
      <p:cxnSp>
        <p:nvCxnSpPr>
          <p:cNvPr id="4" name="Connector 4"/>
          <p:cNvCxnSpPr/>
          <p:nvPr/>
        </p:nvCxnSpPr>
        <p:spPr>
          <a:xfrm>
            <a:off x="533400" y="1041400"/>
            <a:ext cx="1244600" cy="0"/>
          </a:xfrm>
          <a:prstGeom prst="line">
            <a:avLst/>
          </a:prstGeom>
          <a:ln w="30480">
            <a:solidFill>
              <a:srgbClr val="245B85"/>
            </a:solidFill>
          </a:ln>
        </p:spPr>
      </p:cxnSp>
      <p:sp>
        <p:nvSpPr>
          <p:cNvPr id="5" name="Text 5"/>
          <p:cNvSpPr/>
          <p:nvPr/>
        </p:nvSpPr>
        <p:spPr>
          <a:xfrm>
            <a:off x="11214100" y="6451600"/>
            <a:ext cx="4318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altLang="zh-TW" sz="11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endParaRPr lang="zh-TW" sz="1100"/>
          </a:p>
        </p:txBody>
      </p:sp>
      <p:sp>
        <p:nvSpPr>
          <p:cNvPr id="6" name="Text 6"/>
          <p:cNvSpPr/>
          <p:nvPr/>
        </p:nvSpPr>
        <p:spPr>
          <a:xfrm>
            <a:off x="533400" y="6388100"/>
            <a:ext cx="104394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150" b="0" dirty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掃頻 24–32 GHz，共 17 點。所有橋寬均需依板廠製程能力確認。</a:t>
            </a:r>
            <a:endParaRPr lang="zh-TW" sz="1150" dirty="0"/>
          </a:p>
        </p:txBody>
      </p:sp>
      <p:sp>
        <p:nvSpPr>
          <p:cNvPr id="7" name="Text 7"/>
          <p:cNvSpPr/>
          <p:nvPr/>
        </p:nvSpPr>
        <p:spPr>
          <a:xfrm>
            <a:off x="533400" y="1384300"/>
            <a:ext cx="11099800" cy="787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2000" b="0" dirty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39 個設計已於 8/31 交付</a:t>
            </a:r>
            <a:r>
              <a:rPr lang="zh-TW" altLang="en-US" sz="2000" dirty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 lang="zh-TW" sz="2000" dirty="0"/>
          </a:p>
        </p:txBody>
      </p:sp>
      <p:graphicFrame>
        <p:nvGraphicFramePr>
          <p:cNvPr id="8" name="Table 8"/>
          <p:cNvGraphicFramePr/>
          <p:nvPr>
            <p:extLst>
              <p:ext uri="{D42A27DB-BD31-4B8C-83A1-F6EECF244321}">
                <p14:modId xmlns:p14="http://schemas.microsoft.com/office/powerpoint/2010/main" val="746932220"/>
              </p:ext>
            </p:extLst>
          </p:nvPr>
        </p:nvGraphicFramePr>
        <p:xfrm>
          <a:off x="533400" y="2159001"/>
          <a:ext cx="11125200" cy="3048000"/>
        </p:xfrm>
        <a:graphic>
          <a:graphicData uri="http://schemas.openxmlformats.org/drawingml/2006/table">
            <a:tbl>
              <a:tblPr firstRow="1"/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1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07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1" dirty="0">
                          <a:solidFill>
                            <a:srgbClr val="245B8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</a:t>
                      </a:r>
                      <a:r>
                        <a:rPr lang="zh-TW" altLang="en-US" sz="1700" b="1" dirty="0">
                          <a:solidFill>
                            <a:srgbClr val="245B8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計來源</a:t>
                      </a:r>
                      <a:endParaRPr lang="zh-TW" sz="1700" dirty="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1">
                          <a:solidFill>
                            <a:srgbClr val="245B8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數量</a:t>
                      </a:r>
                      <a:endParaRPr lang="zh-TW" sz="17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1">
                          <a:solidFill>
                            <a:srgbClr val="245B8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選取內容</a:t>
                      </a:r>
                      <a:endParaRPr lang="zh-TW" sz="17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1" dirty="0">
                          <a:solidFill>
                            <a:srgbClr val="245B8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菱形橋寬</a:t>
                      </a:r>
                      <a:r>
                        <a:rPr lang="zh-TW" altLang="en-US" sz="1700" b="1" dirty="0">
                          <a:solidFill>
                            <a:srgbClr val="245B8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</a:t>
                      </a:r>
                      <a:r>
                        <a:rPr lang="en-US" altLang="zh-TW" sz="1700" b="1" dirty="0">
                          <a:solidFill>
                            <a:srgbClr val="245B8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(45° </a:t>
                      </a:r>
                      <a:r>
                        <a:rPr lang="zh-TW" altLang="en-US" sz="1700" b="1" dirty="0">
                          <a:solidFill>
                            <a:srgbClr val="245B8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對角橋</a:t>
                      </a:r>
                      <a:r>
                        <a:rPr lang="en-US" altLang="zh-TW" sz="1700" b="1" dirty="0">
                          <a:solidFill>
                            <a:srgbClr val="245B8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)</a:t>
                      </a:r>
                      <a:endParaRPr lang="zh-TW" sz="1700" dirty="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 dirty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天線</a:t>
                      </a:r>
                      <a:r>
                        <a:rPr lang="zh-TW" altLang="en-US" sz="1700" b="0" dirty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款式</a:t>
                      </a:r>
                      <a:endParaRPr lang="zh-TW" sz="1700" dirty="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 dirty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21</a:t>
                      </a:r>
                      <a:endParaRPr lang="zh-TW" sz="1700" dirty="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 dirty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 個款式的</a:t>
                      </a:r>
                      <a:r>
                        <a:rPr lang="zh-TW" altLang="en-US" sz="1700" b="0" dirty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最好樣本</a:t>
                      </a:r>
                      <a:endParaRPr lang="zh-TW" sz="1700" dirty="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0.1 mm</a:t>
                      </a:r>
                      <a:endParaRPr lang="zh-TW" sz="17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 dirty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天線歷史</a:t>
                      </a:r>
                      <a:r>
                        <a:rPr lang="zh-TW" altLang="en-US" sz="1700" b="0" dirty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</a:t>
                      </a:r>
                      <a:endParaRPr lang="zh-TW" sz="1700" dirty="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</a:t>
                      </a:r>
                      <a:endParaRPr lang="zh-TW" sz="17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學長資料池候選</a:t>
                      </a:r>
                      <a:endParaRPr lang="zh-TW" sz="17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0.05／0.075 mm</a:t>
                      </a:r>
                      <a:endParaRPr lang="zh-TW" sz="17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 dirty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濾波器</a:t>
                      </a:r>
                      <a:endParaRPr lang="zh-TW" sz="1700" dirty="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</a:t>
                      </a:r>
                      <a:endParaRPr lang="zh-TW" sz="17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距當時最佳值 1 dB 內</a:t>
                      </a:r>
                      <a:endParaRPr lang="zh-TW" sz="17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0.075 mm</a:t>
                      </a:r>
                      <a:endParaRPr lang="zh-TW" sz="17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合計</a:t>
                      </a:r>
                      <a:endParaRPr lang="zh-TW" sz="17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39</a:t>
                      </a:r>
                      <a:endParaRPr lang="zh-TW" sz="17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 dirty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39 個 .aedt ＋ 2 份目錄 PDF</a:t>
                      </a:r>
                      <a:endParaRPr lang="zh-TW" sz="1700" dirty="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endParaRPr lang="zh-TW" sz="1700" dirty="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9"/>
          <p:cNvSpPr/>
          <p:nvPr/>
        </p:nvSpPr>
        <p:spPr>
          <a:xfrm>
            <a:off x="533400" y="5791200"/>
            <a:ext cx="10972800" cy="533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00" b="0" dirty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濾波器規格餘裕</a:t>
            </a:r>
            <a:r>
              <a:rPr lang="zh-TW" altLang="en-US" sz="1500" b="0" dirty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仍</a:t>
            </a:r>
            <a:r>
              <a:rPr lang="zh-TW" sz="1500" b="0" dirty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為負</a:t>
            </a:r>
            <a:r>
              <a:rPr lang="zh-TW" altLang="en-US" sz="1500" b="0" dirty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，但在目前所探索的資料空間中，已是極限，之後附上說明。</a:t>
            </a:r>
            <a:endParaRPr lang="zh-TW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3400" y="330200"/>
            <a:ext cx="11125200" cy="584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3000" b="1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交付前重測與量測口徑</a:t>
            </a:r>
            <a:endParaRPr lang="zh-TW" sz="3000"/>
          </a:p>
        </p:txBody>
      </p:sp>
      <p:cxnSp>
        <p:nvCxnSpPr>
          <p:cNvPr id="3" name="Connector 3"/>
          <p:cNvCxnSpPr/>
          <p:nvPr/>
        </p:nvCxnSpPr>
        <p:spPr>
          <a:xfrm>
            <a:off x="533400" y="1041400"/>
            <a:ext cx="11125200" cy="0"/>
          </a:xfrm>
          <a:prstGeom prst="line">
            <a:avLst/>
          </a:prstGeom>
          <a:ln w="10160">
            <a:solidFill>
              <a:srgbClr val="CCD8E2"/>
            </a:solidFill>
          </a:ln>
        </p:spPr>
      </p:cxnSp>
      <p:cxnSp>
        <p:nvCxnSpPr>
          <p:cNvPr id="4" name="Connector 4"/>
          <p:cNvCxnSpPr/>
          <p:nvPr/>
        </p:nvCxnSpPr>
        <p:spPr>
          <a:xfrm>
            <a:off x="533400" y="1041400"/>
            <a:ext cx="1244600" cy="0"/>
          </a:xfrm>
          <a:prstGeom prst="line">
            <a:avLst/>
          </a:prstGeom>
          <a:ln w="30480">
            <a:solidFill>
              <a:srgbClr val="245B85"/>
            </a:solidFill>
          </a:ln>
        </p:spPr>
      </p:cxnSp>
      <p:sp>
        <p:nvSpPr>
          <p:cNvPr id="5" name="Text 5"/>
          <p:cNvSpPr/>
          <p:nvPr/>
        </p:nvSpPr>
        <p:spPr>
          <a:xfrm>
            <a:off x="11214100" y="6451600"/>
            <a:ext cx="4318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altLang="zh-TW" sz="11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  <a:endParaRPr lang="zh-TW" sz="1100"/>
          </a:p>
        </p:txBody>
      </p:sp>
      <p:sp>
        <p:nvSpPr>
          <p:cNvPr id="6" name="Text 6"/>
          <p:cNvSpPr/>
          <p:nvPr/>
        </p:nvSpPr>
        <p:spPr>
          <a:xfrm>
            <a:off x="533400" y="6388100"/>
            <a:ext cx="104394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15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本頁為 8/31 歷史重測結果。電磁模擬與實體量測仍需逐項對照。</a:t>
            </a:r>
            <a:endParaRPr lang="zh-TW" sz="1150"/>
          </a:p>
        </p:txBody>
      </p:sp>
      <p:graphicFrame>
        <p:nvGraphicFramePr>
          <p:cNvPr id="7" name="Table 7"/>
          <p:cNvGraphicFramePr/>
          <p:nvPr/>
        </p:nvGraphicFramePr>
        <p:xfrm>
          <a:off x="533400" y="1460500"/>
          <a:ext cx="11125200" cy="2590800"/>
        </p:xfrm>
        <a:graphic>
          <a:graphicData uri="http://schemas.openxmlformats.org/drawingml/2006/table">
            <a:tbl>
              <a:tblPr firstRow="1"/>
              <a:tblGrid>
                <a:gridCol w="311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1">
                          <a:solidFill>
                            <a:srgbClr val="245B8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</a:t>
                      </a:r>
                      <a:endParaRPr lang="zh-TW" sz="18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1">
                          <a:solidFill>
                            <a:srgbClr val="245B8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結果</a:t>
                      </a:r>
                      <a:endParaRPr lang="zh-TW" sz="18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1">
                          <a:solidFill>
                            <a:srgbClr val="245B8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解讀</a:t>
                      </a:r>
                      <a:endParaRPr lang="zh-TW" sz="18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HFSS 重新求解</a:t>
                      </a:r>
                      <a:endParaRPr lang="zh-TW" sz="18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39／39 完成</a:t>
                      </a:r>
                      <a:endParaRPr lang="zh-TW" sz="18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交付集皆有重測結果</a:t>
                      </a:r>
                      <a:endParaRPr lang="zh-TW" sz="18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與原量測比較</a:t>
                      </a:r>
                      <a:endParaRPr lang="zh-TW" sz="18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37 筆位元級一致</a:t>
                      </a:r>
                      <a:endParaRPr lang="zh-TW" sz="18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其餘 2 筆差異 ≤ 0.08 dB</a:t>
                      </a:r>
                      <a:endParaRPr lang="zh-TW" sz="18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交付目錄</a:t>
                      </a:r>
                      <a:endParaRPr lang="zh-TW" sz="18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使用重測數值</a:t>
                      </a:r>
                      <a:endParaRPr lang="zh-TW" sz="18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第一張天線為 +0.77 dB</a:t>
                      </a:r>
                      <a:endParaRPr lang="zh-TW" sz="18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8"/>
          <p:cNvSpPr/>
          <p:nvPr/>
        </p:nvSpPr>
        <p:spPr>
          <a:xfrm>
            <a:off x="533400" y="4406900"/>
            <a:ext cx="50800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2000" b="1" dirty="0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橋寬與統計範圍</a:t>
            </a:r>
            <a:endParaRPr lang="zh-TW" sz="2000" dirty="0"/>
          </a:p>
        </p:txBody>
      </p:sp>
      <p:sp>
        <p:nvSpPr>
          <p:cNvPr id="9" name="Text 9"/>
          <p:cNvSpPr/>
          <p:nvPr/>
        </p:nvSpPr>
        <p:spPr>
          <a:xfrm>
            <a:off x="533400" y="4889500"/>
            <a:ext cx="11099800" cy="12573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750" b="0" dirty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18 個設計的橋寬小於 0.1 mm，需向板廠確認。</a:t>
            </a:r>
            <a:endParaRPr lang="zh-TW" sz="1750" dirty="0"/>
          </a:p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750" b="0" dirty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歷史 13 張樣本的「四橋寬取最好值」比固定 0.1 mm 中位高 +0.27 dB。</a:t>
            </a:r>
            <a:endParaRPr lang="zh-TW" sz="1750" dirty="0"/>
          </a:p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750" b="0" dirty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本次 21 張天線代表使用固定 0.1 mm，兩者應分開比較。</a:t>
            </a:r>
            <a:endParaRPr lang="zh-TW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3400" y="330200"/>
            <a:ext cx="11125200" cy="584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3000" b="1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Dual-port 性能紀錄</a:t>
            </a:r>
            <a:endParaRPr lang="zh-TW" sz="3000"/>
          </a:p>
        </p:txBody>
      </p:sp>
      <p:cxnSp>
        <p:nvCxnSpPr>
          <p:cNvPr id="3" name="Connector 3"/>
          <p:cNvCxnSpPr/>
          <p:nvPr/>
        </p:nvCxnSpPr>
        <p:spPr>
          <a:xfrm>
            <a:off x="533400" y="1041400"/>
            <a:ext cx="11125200" cy="0"/>
          </a:xfrm>
          <a:prstGeom prst="line">
            <a:avLst/>
          </a:prstGeom>
          <a:ln w="10160">
            <a:solidFill>
              <a:srgbClr val="CCD8E2"/>
            </a:solidFill>
          </a:ln>
        </p:spPr>
      </p:cxnSp>
      <p:cxnSp>
        <p:nvCxnSpPr>
          <p:cNvPr id="4" name="Connector 4"/>
          <p:cNvCxnSpPr/>
          <p:nvPr/>
        </p:nvCxnSpPr>
        <p:spPr>
          <a:xfrm>
            <a:off x="533400" y="1041400"/>
            <a:ext cx="1244600" cy="0"/>
          </a:xfrm>
          <a:prstGeom prst="line">
            <a:avLst/>
          </a:prstGeom>
          <a:ln w="30480">
            <a:solidFill>
              <a:srgbClr val="245B85"/>
            </a:solidFill>
          </a:ln>
        </p:spPr>
      </p:cxnSp>
      <p:sp>
        <p:nvSpPr>
          <p:cNvPr id="5" name="Text 5"/>
          <p:cNvSpPr/>
          <p:nvPr/>
        </p:nvSpPr>
        <p:spPr>
          <a:xfrm>
            <a:off x="11214100" y="6451600"/>
            <a:ext cx="4318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altLang="zh-TW" sz="11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5</a:t>
            </a:r>
            <a:endParaRPr lang="zh-TW" sz="1100"/>
          </a:p>
        </p:txBody>
      </p:sp>
      <p:sp>
        <p:nvSpPr>
          <p:cNvPr id="7" name="Text 7"/>
          <p:cNvSpPr/>
          <p:nvPr/>
        </p:nvSpPr>
        <p:spPr>
          <a:xfrm>
            <a:off x="1130300" y="1333500"/>
            <a:ext cx="7048500" cy="3429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wm_mfg (dB)</a:t>
            </a:r>
            <a:endParaRPr lang="zh-TW" sz="1500"/>
          </a:p>
        </p:txBody>
      </p:sp>
      <p:cxnSp>
        <p:nvCxnSpPr>
          <p:cNvPr id="8" name="Connector 8"/>
          <p:cNvCxnSpPr/>
          <p:nvPr/>
        </p:nvCxnSpPr>
        <p:spPr>
          <a:xfrm>
            <a:off x="1155700" y="5384800"/>
            <a:ext cx="7035800" cy="0"/>
          </a:xfrm>
          <a:prstGeom prst="line">
            <a:avLst/>
          </a:prstGeom>
          <a:ln w="7620">
            <a:solidFill>
              <a:srgbClr val="CCD8E2"/>
            </a:solidFill>
          </a:ln>
        </p:spPr>
      </p:cxnSp>
      <p:sp>
        <p:nvSpPr>
          <p:cNvPr id="9" name="Text 9"/>
          <p:cNvSpPr/>
          <p:nvPr/>
        </p:nvSpPr>
        <p:spPr>
          <a:xfrm>
            <a:off x="508000" y="5257800"/>
            <a:ext cx="520700" cy="279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3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-6.0</a:t>
            </a:r>
            <a:endParaRPr lang="zh-TW" sz="1300"/>
          </a:p>
        </p:txBody>
      </p:sp>
      <p:cxnSp>
        <p:nvCxnSpPr>
          <p:cNvPr id="10" name="Connector 10"/>
          <p:cNvCxnSpPr/>
          <p:nvPr/>
        </p:nvCxnSpPr>
        <p:spPr>
          <a:xfrm>
            <a:off x="1155700" y="4508500"/>
            <a:ext cx="7035800" cy="0"/>
          </a:xfrm>
          <a:prstGeom prst="line">
            <a:avLst/>
          </a:prstGeom>
          <a:ln w="7620">
            <a:solidFill>
              <a:srgbClr val="CCD8E2"/>
            </a:solidFill>
          </a:ln>
        </p:spPr>
      </p:cxnSp>
      <p:sp>
        <p:nvSpPr>
          <p:cNvPr id="11" name="Text 11"/>
          <p:cNvSpPr/>
          <p:nvPr/>
        </p:nvSpPr>
        <p:spPr>
          <a:xfrm>
            <a:off x="508000" y="4381500"/>
            <a:ext cx="520700" cy="279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3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-5.0</a:t>
            </a:r>
            <a:endParaRPr lang="zh-TW" sz="1300"/>
          </a:p>
        </p:txBody>
      </p:sp>
      <p:cxnSp>
        <p:nvCxnSpPr>
          <p:cNvPr id="12" name="Connector 12"/>
          <p:cNvCxnSpPr/>
          <p:nvPr/>
        </p:nvCxnSpPr>
        <p:spPr>
          <a:xfrm>
            <a:off x="1155700" y="3632200"/>
            <a:ext cx="7035800" cy="0"/>
          </a:xfrm>
          <a:prstGeom prst="line">
            <a:avLst/>
          </a:prstGeom>
          <a:ln w="7620">
            <a:solidFill>
              <a:srgbClr val="CCD8E2"/>
            </a:solidFill>
          </a:ln>
        </p:spPr>
      </p:cxnSp>
      <p:sp>
        <p:nvSpPr>
          <p:cNvPr id="13" name="Text 13"/>
          <p:cNvSpPr/>
          <p:nvPr/>
        </p:nvSpPr>
        <p:spPr>
          <a:xfrm>
            <a:off x="508000" y="3505200"/>
            <a:ext cx="520700" cy="279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3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-4.0</a:t>
            </a:r>
            <a:endParaRPr lang="zh-TW" sz="1300"/>
          </a:p>
        </p:txBody>
      </p:sp>
      <p:cxnSp>
        <p:nvCxnSpPr>
          <p:cNvPr id="14" name="Connector 14"/>
          <p:cNvCxnSpPr/>
          <p:nvPr/>
        </p:nvCxnSpPr>
        <p:spPr>
          <a:xfrm>
            <a:off x="1155700" y="2755900"/>
            <a:ext cx="7035800" cy="0"/>
          </a:xfrm>
          <a:prstGeom prst="line">
            <a:avLst/>
          </a:prstGeom>
          <a:ln w="7620">
            <a:solidFill>
              <a:srgbClr val="CCD8E2"/>
            </a:solidFill>
          </a:ln>
        </p:spPr>
      </p:cxnSp>
      <p:sp>
        <p:nvSpPr>
          <p:cNvPr id="15" name="Text 15"/>
          <p:cNvSpPr/>
          <p:nvPr/>
        </p:nvSpPr>
        <p:spPr>
          <a:xfrm>
            <a:off x="508000" y="2628900"/>
            <a:ext cx="520700" cy="279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3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-3.0</a:t>
            </a:r>
            <a:endParaRPr lang="zh-TW" sz="1300"/>
          </a:p>
        </p:txBody>
      </p:sp>
      <p:cxnSp>
        <p:nvCxnSpPr>
          <p:cNvPr id="16" name="Connector 16"/>
          <p:cNvCxnSpPr/>
          <p:nvPr/>
        </p:nvCxnSpPr>
        <p:spPr>
          <a:xfrm>
            <a:off x="1155700" y="1879600"/>
            <a:ext cx="7035800" cy="0"/>
          </a:xfrm>
          <a:prstGeom prst="line">
            <a:avLst/>
          </a:prstGeom>
          <a:ln w="7620">
            <a:solidFill>
              <a:srgbClr val="CCD8E2"/>
            </a:solidFill>
          </a:ln>
        </p:spPr>
      </p:cxnSp>
      <p:sp>
        <p:nvSpPr>
          <p:cNvPr id="17" name="Text 17"/>
          <p:cNvSpPr/>
          <p:nvPr/>
        </p:nvSpPr>
        <p:spPr>
          <a:xfrm>
            <a:off x="508000" y="1752600"/>
            <a:ext cx="520700" cy="279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3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-2.0</a:t>
            </a:r>
            <a:endParaRPr lang="zh-TW" sz="1300"/>
          </a:p>
        </p:txBody>
      </p:sp>
      <p:cxnSp>
        <p:nvCxnSpPr>
          <p:cNvPr id="18" name="Connector 18"/>
          <p:cNvCxnSpPr/>
          <p:nvPr/>
        </p:nvCxnSpPr>
        <p:spPr>
          <a:xfrm>
            <a:off x="1155700" y="1879600"/>
            <a:ext cx="0" cy="3505200"/>
          </a:xfrm>
          <a:prstGeom prst="line">
            <a:avLst/>
          </a:prstGeom>
          <a:ln w="10160">
            <a:solidFill>
              <a:srgbClr val="526A7D"/>
            </a:solidFill>
          </a:ln>
        </p:spPr>
      </p:cxnSp>
      <p:cxnSp>
        <p:nvCxnSpPr>
          <p:cNvPr id="19" name="Connector 19"/>
          <p:cNvCxnSpPr/>
          <p:nvPr/>
        </p:nvCxnSpPr>
        <p:spPr>
          <a:xfrm>
            <a:off x="1155700" y="5384800"/>
            <a:ext cx="7035800" cy="0"/>
          </a:xfrm>
          <a:prstGeom prst="line">
            <a:avLst/>
          </a:prstGeom>
          <a:ln w="10160">
            <a:solidFill>
              <a:srgbClr val="526A7D"/>
            </a:solidFill>
          </a:ln>
        </p:spPr>
      </p:cxnSp>
      <p:cxnSp>
        <p:nvCxnSpPr>
          <p:cNvPr id="20" name="Connector 20"/>
          <p:cNvCxnSpPr/>
          <p:nvPr/>
        </p:nvCxnSpPr>
        <p:spPr>
          <a:xfrm>
            <a:off x="1366173" y="5384800"/>
            <a:ext cx="0" cy="50800"/>
          </a:xfrm>
          <a:prstGeom prst="line">
            <a:avLst/>
          </a:prstGeom>
          <a:ln w="8890">
            <a:solidFill>
              <a:srgbClr val="526A7D"/>
            </a:solidFill>
          </a:ln>
        </p:spPr>
      </p:cxnSp>
      <p:sp>
        <p:nvSpPr>
          <p:cNvPr id="21" name="Text 21"/>
          <p:cNvSpPr/>
          <p:nvPr/>
        </p:nvSpPr>
        <p:spPr>
          <a:xfrm>
            <a:off x="1048673" y="5499100"/>
            <a:ext cx="635000" cy="292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2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08/13</a:t>
            </a:r>
            <a:endParaRPr lang="zh-TW" sz="1200"/>
          </a:p>
        </p:txBody>
      </p:sp>
      <p:cxnSp>
        <p:nvCxnSpPr>
          <p:cNvPr id="22" name="Connector 22"/>
          <p:cNvCxnSpPr/>
          <p:nvPr/>
        </p:nvCxnSpPr>
        <p:spPr>
          <a:xfrm>
            <a:off x="2568874" y="5384800"/>
            <a:ext cx="0" cy="50800"/>
          </a:xfrm>
          <a:prstGeom prst="line">
            <a:avLst/>
          </a:prstGeom>
          <a:ln w="8890">
            <a:solidFill>
              <a:srgbClr val="526A7D"/>
            </a:solidFill>
          </a:ln>
        </p:spPr>
      </p:cxnSp>
      <p:sp>
        <p:nvSpPr>
          <p:cNvPr id="23" name="Text 23"/>
          <p:cNvSpPr/>
          <p:nvPr/>
        </p:nvSpPr>
        <p:spPr>
          <a:xfrm>
            <a:off x="2251374" y="5499100"/>
            <a:ext cx="635000" cy="292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2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08/15</a:t>
            </a:r>
            <a:endParaRPr lang="zh-TW" sz="1200"/>
          </a:p>
        </p:txBody>
      </p:sp>
      <p:cxnSp>
        <p:nvCxnSpPr>
          <p:cNvPr id="24" name="Connector 24"/>
          <p:cNvCxnSpPr/>
          <p:nvPr/>
        </p:nvCxnSpPr>
        <p:spPr>
          <a:xfrm>
            <a:off x="3771574" y="5384800"/>
            <a:ext cx="0" cy="50800"/>
          </a:xfrm>
          <a:prstGeom prst="line">
            <a:avLst/>
          </a:prstGeom>
          <a:ln w="8890">
            <a:solidFill>
              <a:srgbClr val="526A7D"/>
            </a:solidFill>
          </a:ln>
        </p:spPr>
      </p:cxnSp>
      <p:sp>
        <p:nvSpPr>
          <p:cNvPr id="25" name="Text 25"/>
          <p:cNvSpPr/>
          <p:nvPr/>
        </p:nvSpPr>
        <p:spPr>
          <a:xfrm>
            <a:off x="3454074" y="5499100"/>
            <a:ext cx="635000" cy="292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2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08/17</a:t>
            </a:r>
            <a:endParaRPr lang="zh-TW" sz="1200"/>
          </a:p>
        </p:txBody>
      </p:sp>
      <p:cxnSp>
        <p:nvCxnSpPr>
          <p:cNvPr id="26" name="Connector 26"/>
          <p:cNvCxnSpPr/>
          <p:nvPr/>
        </p:nvCxnSpPr>
        <p:spPr>
          <a:xfrm>
            <a:off x="4974275" y="5384800"/>
            <a:ext cx="0" cy="50800"/>
          </a:xfrm>
          <a:prstGeom prst="line">
            <a:avLst/>
          </a:prstGeom>
          <a:ln w="8890">
            <a:solidFill>
              <a:srgbClr val="526A7D"/>
            </a:solidFill>
          </a:ln>
        </p:spPr>
      </p:cxnSp>
      <p:sp>
        <p:nvSpPr>
          <p:cNvPr id="27" name="Text 27"/>
          <p:cNvSpPr/>
          <p:nvPr/>
        </p:nvSpPr>
        <p:spPr>
          <a:xfrm>
            <a:off x="4656775" y="5499100"/>
            <a:ext cx="635000" cy="292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2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08/19</a:t>
            </a:r>
            <a:endParaRPr lang="zh-TW" sz="1200"/>
          </a:p>
        </p:txBody>
      </p:sp>
      <p:cxnSp>
        <p:nvCxnSpPr>
          <p:cNvPr id="28" name="Connector 28"/>
          <p:cNvCxnSpPr/>
          <p:nvPr/>
        </p:nvCxnSpPr>
        <p:spPr>
          <a:xfrm>
            <a:off x="6176976" y="5384800"/>
            <a:ext cx="0" cy="50800"/>
          </a:xfrm>
          <a:prstGeom prst="line">
            <a:avLst/>
          </a:prstGeom>
          <a:ln w="8890">
            <a:solidFill>
              <a:srgbClr val="526A7D"/>
            </a:solidFill>
          </a:ln>
        </p:spPr>
      </p:cxnSp>
      <p:sp>
        <p:nvSpPr>
          <p:cNvPr id="29" name="Text 29"/>
          <p:cNvSpPr/>
          <p:nvPr/>
        </p:nvSpPr>
        <p:spPr>
          <a:xfrm>
            <a:off x="5859476" y="5499100"/>
            <a:ext cx="635000" cy="292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2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08/21</a:t>
            </a:r>
            <a:endParaRPr lang="zh-TW" sz="1200"/>
          </a:p>
        </p:txBody>
      </p:sp>
      <p:cxnSp>
        <p:nvCxnSpPr>
          <p:cNvPr id="30" name="Connector 30"/>
          <p:cNvCxnSpPr/>
          <p:nvPr/>
        </p:nvCxnSpPr>
        <p:spPr>
          <a:xfrm>
            <a:off x="7981027" y="5384800"/>
            <a:ext cx="0" cy="50800"/>
          </a:xfrm>
          <a:prstGeom prst="line">
            <a:avLst/>
          </a:prstGeom>
          <a:ln w="8890">
            <a:solidFill>
              <a:srgbClr val="526A7D"/>
            </a:solidFill>
          </a:ln>
        </p:spPr>
      </p:cxnSp>
      <p:sp>
        <p:nvSpPr>
          <p:cNvPr id="31" name="Text 31"/>
          <p:cNvSpPr/>
          <p:nvPr/>
        </p:nvSpPr>
        <p:spPr>
          <a:xfrm>
            <a:off x="7663527" y="5499100"/>
            <a:ext cx="635000" cy="292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2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08/24</a:t>
            </a:r>
            <a:endParaRPr lang="zh-TW" sz="1200"/>
          </a:p>
        </p:txBody>
      </p:sp>
      <p:cxnSp>
        <p:nvCxnSpPr>
          <p:cNvPr id="32" name="Connector 32"/>
          <p:cNvCxnSpPr/>
          <p:nvPr/>
        </p:nvCxnSpPr>
        <p:spPr>
          <a:xfrm>
            <a:off x="1155700" y="2142490"/>
            <a:ext cx="7035800" cy="0"/>
          </a:xfrm>
          <a:prstGeom prst="line">
            <a:avLst/>
          </a:prstGeom>
          <a:ln w="12700">
            <a:solidFill>
              <a:srgbClr val="A45D20"/>
            </a:solidFill>
            <a:prstDash val="dash"/>
          </a:ln>
        </p:spPr>
      </p:cxnSp>
      <p:cxnSp>
        <p:nvCxnSpPr>
          <p:cNvPr id="33" name="Connector 33"/>
          <p:cNvCxnSpPr/>
          <p:nvPr/>
        </p:nvCxnSpPr>
        <p:spPr>
          <a:xfrm flipV="1">
            <a:off x="1366173" y="3860038"/>
            <a:ext cx="0" cy="1437132"/>
          </a:xfrm>
          <a:prstGeom prst="line">
            <a:avLst/>
          </a:prstGeom>
          <a:ln w="21590">
            <a:solidFill>
              <a:srgbClr val="245B85"/>
            </a:solidFill>
          </a:ln>
        </p:spPr>
      </p:cxnSp>
      <p:cxnSp>
        <p:nvCxnSpPr>
          <p:cNvPr id="34" name="Connector 34"/>
          <p:cNvCxnSpPr/>
          <p:nvPr/>
        </p:nvCxnSpPr>
        <p:spPr>
          <a:xfrm flipV="1">
            <a:off x="1366173" y="3474466"/>
            <a:ext cx="0" cy="385572"/>
          </a:xfrm>
          <a:prstGeom prst="line">
            <a:avLst/>
          </a:prstGeom>
          <a:ln w="21590">
            <a:solidFill>
              <a:srgbClr val="245B85"/>
            </a:solidFill>
          </a:ln>
        </p:spPr>
      </p:cxnSp>
      <p:cxnSp>
        <p:nvCxnSpPr>
          <p:cNvPr id="35" name="Connector 35"/>
          <p:cNvCxnSpPr/>
          <p:nvPr/>
        </p:nvCxnSpPr>
        <p:spPr>
          <a:xfrm flipV="1">
            <a:off x="1366173" y="3202813"/>
            <a:ext cx="601350" cy="271653"/>
          </a:xfrm>
          <a:prstGeom prst="line">
            <a:avLst/>
          </a:prstGeom>
          <a:ln w="21590">
            <a:solidFill>
              <a:srgbClr val="245B85"/>
            </a:solidFill>
          </a:ln>
        </p:spPr>
      </p:cxnSp>
      <p:cxnSp>
        <p:nvCxnSpPr>
          <p:cNvPr id="36" name="Connector 36"/>
          <p:cNvCxnSpPr/>
          <p:nvPr/>
        </p:nvCxnSpPr>
        <p:spPr>
          <a:xfrm flipV="1">
            <a:off x="1967523" y="3080131"/>
            <a:ext cx="0" cy="122682"/>
          </a:xfrm>
          <a:prstGeom prst="line">
            <a:avLst/>
          </a:prstGeom>
          <a:ln w="21590">
            <a:solidFill>
              <a:srgbClr val="245B85"/>
            </a:solidFill>
          </a:ln>
        </p:spPr>
      </p:cxnSp>
      <p:cxnSp>
        <p:nvCxnSpPr>
          <p:cNvPr id="37" name="Connector 37"/>
          <p:cNvCxnSpPr/>
          <p:nvPr/>
        </p:nvCxnSpPr>
        <p:spPr>
          <a:xfrm flipV="1">
            <a:off x="1967523" y="2913634"/>
            <a:ext cx="601350" cy="166497"/>
          </a:xfrm>
          <a:prstGeom prst="line">
            <a:avLst/>
          </a:prstGeom>
          <a:ln w="21590">
            <a:solidFill>
              <a:srgbClr val="245B85"/>
            </a:solidFill>
          </a:ln>
        </p:spPr>
      </p:cxnSp>
      <p:cxnSp>
        <p:nvCxnSpPr>
          <p:cNvPr id="38" name="Connector 38"/>
          <p:cNvCxnSpPr/>
          <p:nvPr/>
        </p:nvCxnSpPr>
        <p:spPr>
          <a:xfrm flipV="1">
            <a:off x="2568874" y="2887345"/>
            <a:ext cx="0" cy="26289"/>
          </a:xfrm>
          <a:prstGeom prst="line">
            <a:avLst/>
          </a:prstGeom>
          <a:ln w="21590">
            <a:solidFill>
              <a:srgbClr val="245B85"/>
            </a:solidFill>
          </a:ln>
        </p:spPr>
      </p:cxnSp>
      <p:cxnSp>
        <p:nvCxnSpPr>
          <p:cNvPr id="39" name="Connector 39"/>
          <p:cNvCxnSpPr/>
          <p:nvPr/>
        </p:nvCxnSpPr>
        <p:spPr>
          <a:xfrm flipV="1">
            <a:off x="2568874" y="2878582"/>
            <a:ext cx="601350" cy="8763"/>
          </a:xfrm>
          <a:prstGeom prst="line">
            <a:avLst/>
          </a:prstGeom>
          <a:ln w="21590">
            <a:solidFill>
              <a:srgbClr val="245B85"/>
            </a:solidFill>
          </a:ln>
        </p:spPr>
      </p:cxnSp>
      <p:cxnSp>
        <p:nvCxnSpPr>
          <p:cNvPr id="40" name="Connector 40"/>
          <p:cNvCxnSpPr/>
          <p:nvPr/>
        </p:nvCxnSpPr>
        <p:spPr>
          <a:xfrm flipV="1">
            <a:off x="3170224" y="2650744"/>
            <a:ext cx="0" cy="227838"/>
          </a:xfrm>
          <a:prstGeom prst="line">
            <a:avLst/>
          </a:prstGeom>
          <a:ln w="21590">
            <a:solidFill>
              <a:srgbClr val="245B85"/>
            </a:solidFill>
          </a:ln>
        </p:spPr>
      </p:cxnSp>
      <p:cxnSp>
        <p:nvCxnSpPr>
          <p:cNvPr id="41" name="Connector 41"/>
          <p:cNvCxnSpPr/>
          <p:nvPr/>
        </p:nvCxnSpPr>
        <p:spPr>
          <a:xfrm flipV="1">
            <a:off x="3170224" y="2606929"/>
            <a:ext cx="601350" cy="43815"/>
          </a:xfrm>
          <a:prstGeom prst="line">
            <a:avLst/>
          </a:prstGeom>
          <a:ln w="21590">
            <a:solidFill>
              <a:srgbClr val="245B85"/>
            </a:solidFill>
          </a:ln>
        </p:spPr>
      </p:cxnSp>
      <p:cxnSp>
        <p:nvCxnSpPr>
          <p:cNvPr id="42" name="Connector 42"/>
          <p:cNvCxnSpPr/>
          <p:nvPr/>
        </p:nvCxnSpPr>
        <p:spPr>
          <a:xfrm flipV="1">
            <a:off x="3771574" y="2571877"/>
            <a:ext cx="601350" cy="35052"/>
          </a:xfrm>
          <a:prstGeom prst="line">
            <a:avLst/>
          </a:prstGeom>
          <a:ln w="21590">
            <a:solidFill>
              <a:srgbClr val="245B85"/>
            </a:solidFill>
          </a:ln>
        </p:spPr>
      </p:cxnSp>
      <p:cxnSp>
        <p:nvCxnSpPr>
          <p:cNvPr id="43" name="Connector 43"/>
          <p:cNvCxnSpPr/>
          <p:nvPr/>
        </p:nvCxnSpPr>
        <p:spPr>
          <a:xfrm flipV="1">
            <a:off x="4372925" y="2554351"/>
            <a:ext cx="0" cy="17526"/>
          </a:xfrm>
          <a:prstGeom prst="line">
            <a:avLst/>
          </a:prstGeom>
          <a:ln w="21590">
            <a:solidFill>
              <a:srgbClr val="245B85"/>
            </a:solidFill>
          </a:ln>
        </p:spPr>
      </p:cxnSp>
      <p:cxnSp>
        <p:nvCxnSpPr>
          <p:cNvPr id="44" name="Connector 44"/>
          <p:cNvCxnSpPr/>
          <p:nvPr/>
        </p:nvCxnSpPr>
        <p:spPr>
          <a:xfrm flipV="1">
            <a:off x="4372925" y="2484247"/>
            <a:ext cx="0" cy="70104"/>
          </a:xfrm>
          <a:prstGeom prst="line">
            <a:avLst/>
          </a:prstGeom>
          <a:ln w="21590">
            <a:solidFill>
              <a:srgbClr val="245B85"/>
            </a:solidFill>
          </a:ln>
        </p:spPr>
      </p:cxnSp>
      <p:cxnSp>
        <p:nvCxnSpPr>
          <p:cNvPr id="45" name="Connector 45"/>
          <p:cNvCxnSpPr/>
          <p:nvPr/>
        </p:nvCxnSpPr>
        <p:spPr>
          <a:xfrm flipV="1">
            <a:off x="4372925" y="2405380"/>
            <a:ext cx="0" cy="78867"/>
          </a:xfrm>
          <a:prstGeom prst="line">
            <a:avLst/>
          </a:prstGeom>
          <a:ln w="21590">
            <a:solidFill>
              <a:srgbClr val="245B85"/>
            </a:solidFill>
          </a:ln>
        </p:spPr>
      </p:cxnSp>
      <p:cxnSp>
        <p:nvCxnSpPr>
          <p:cNvPr id="46" name="Connector 46"/>
          <p:cNvCxnSpPr/>
          <p:nvPr/>
        </p:nvCxnSpPr>
        <p:spPr>
          <a:xfrm flipV="1">
            <a:off x="4372925" y="2352802"/>
            <a:ext cx="601350" cy="52578"/>
          </a:xfrm>
          <a:prstGeom prst="line">
            <a:avLst/>
          </a:prstGeom>
          <a:ln w="21590">
            <a:solidFill>
              <a:srgbClr val="245B85"/>
            </a:solidFill>
          </a:ln>
        </p:spPr>
      </p:cxnSp>
      <p:cxnSp>
        <p:nvCxnSpPr>
          <p:cNvPr id="47" name="Connector 47"/>
          <p:cNvCxnSpPr/>
          <p:nvPr/>
        </p:nvCxnSpPr>
        <p:spPr>
          <a:xfrm flipV="1">
            <a:off x="4974275" y="2256409"/>
            <a:ext cx="2405402" cy="96393"/>
          </a:xfrm>
          <a:prstGeom prst="line">
            <a:avLst/>
          </a:prstGeom>
          <a:ln w="21590">
            <a:solidFill>
              <a:srgbClr val="245B85"/>
            </a:solidFill>
          </a:ln>
        </p:spPr>
      </p:cxnSp>
      <p:cxnSp>
        <p:nvCxnSpPr>
          <p:cNvPr id="48" name="Connector 48"/>
          <p:cNvCxnSpPr/>
          <p:nvPr/>
        </p:nvCxnSpPr>
        <p:spPr>
          <a:xfrm flipV="1">
            <a:off x="7379677" y="2221357"/>
            <a:ext cx="601350" cy="35052"/>
          </a:xfrm>
          <a:prstGeom prst="line">
            <a:avLst/>
          </a:prstGeom>
          <a:ln w="21590">
            <a:solidFill>
              <a:srgbClr val="245B85"/>
            </a:solidFill>
          </a:ln>
        </p:spPr>
      </p:cxnSp>
      <p:sp>
        <p:nvSpPr>
          <p:cNvPr id="49" name="Data marker 49"/>
          <p:cNvSpPr/>
          <p:nvPr/>
        </p:nvSpPr>
        <p:spPr>
          <a:xfrm>
            <a:off x="1331883" y="5262880"/>
            <a:ext cx="68580" cy="68580"/>
          </a:xfrm>
          <a:prstGeom prst="ellipse">
            <a:avLst/>
          </a:prstGeom>
          <a:solidFill>
            <a:srgbClr val="245B85"/>
          </a:solidFill>
          <a:ln w="12700">
            <a:noFill/>
          </a:ln>
        </p:spPr>
      </p:sp>
      <p:sp>
        <p:nvSpPr>
          <p:cNvPr id="50" name="Data marker 50"/>
          <p:cNvSpPr/>
          <p:nvPr/>
        </p:nvSpPr>
        <p:spPr>
          <a:xfrm>
            <a:off x="1331883" y="3825748"/>
            <a:ext cx="68580" cy="68580"/>
          </a:xfrm>
          <a:prstGeom prst="ellipse">
            <a:avLst/>
          </a:prstGeom>
          <a:solidFill>
            <a:srgbClr val="245B85"/>
          </a:solidFill>
          <a:ln w="12700">
            <a:noFill/>
          </a:ln>
        </p:spPr>
      </p:sp>
      <p:sp>
        <p:nvSpPr>
          <p:cNvPr id="51" name="Data marker 51"/>
          <p:cNvSpPr/>
          <p:nvPr/>
        </p:nvSpPr>
        <p:spPr>
          <a:xfrm>
            <a:off x="1331883" y="3440176"/>
            <a:ext cx="68580" cy="68580"/>
          </a:xfrm>
          <a:prstGeom prst="ellipse">
            <a:avLst/>
          </a:prstGeom>
          <a:solidFill>
            <a:srgbClr val="245B85"/>
          </a:solidFill>
          <a:ln w="12700">
            <a:noFill/>
          </a:ln>
        </p:spPr>
      </p:sp>
      <p:sp>
        <p:nvSpPr>
          <p:cNvPr id="52" name="Data marker 52"/>
          <p:cNvSpPr/>
          <p:nvPr/>
        </p:nvSpPr>
        <p:spPr>
          <a:xfrm>
            <a:off x="1933233" y="3168523"/>
            <a:ext cx="68580" cy="68580"/>
          </a:xfrm>
          <a:prstGeom prst="ellipse">
            <a:avLst/>
          </a:prstGeom>
          <a:solidFill>
            <a:srgbClr val="245B85"/>
          </a:solidFill>
          <a:ln w="12700">
            <a:noFill/>
          </a:ln>
        </p:spPr>
      </p:sp>
      <p:sp>
        <p:nvSpPr>
          <p:cNvPr id="53" name="Data marker 53"/>
          <p:cNvSpPr/>
          <p:nvPr/>
        </p:nvSpPr>
        <p:spPr>
          <a:xfrm>
            <a:off x="1933233" y="3045841"/>
            <a:ext cx="68580" cy="68580"/>
          </a:xfrm>
          <a:prstGeom prst="ellipse">
            <a:avLst/>
          </a:prstGeom>
          <a:solidFill>
            <a:srgbClr val="245B85"/>
          </a:solidFill>
          <a:ln w="12700">
            <a:noFill/>
          </a:ln>
        </p:spPr>
      </p:sp>
      <p:sp>
        <p:nvSpPr>
          <p:cNvPr id="54" name="Data marker 54"/>
          <p:cNvSpPr/>
          <p:nvPr/>
        </p:nvSpPr>
        <p:spPr>
          <a:xfrm>
            <a:off x="2534584" y="2879344"/>
            <a:ext cx="68580" cy="68580"/>
          </a:xfrm>
          <a:prstGeom prst="ellipse">
            <a:avLst/>
          </a:prstGeom>
          <a:solidFill>
            <a:srgbClr val="245B85"/>
          </a:solidFill>
          <a:ln w="12700">
            <a:noFill/>
          </a:ln>
        </p:spPr>
      </p:sp>
      <p:sp>
        <p:nvSpPr>
          <p:cNvPr id="55" name="Data marker 55"/>
          <p:cNvSpPr/>
          <p:nvPr/>
        </p:nvSpPr>
        <p:spPr>
          <a:xfrm>
            <a:off x="2534584" y="2853055"/>
            <a:ext cx="68580" cy="68580"/>
          </a:xfrm>
          <a:prstGeom prst="ellipse">
            <a:avLst/>
          </a:prstGeom>
          <a:solidFill>
            <a:srgbClr val="245B85"/>
          </a:solidFill>
          <a:ln w="12700">
            <a:noFill/>
          </a:ln>
        </p:spPr>
      </p:sp>
      <p:sp>
        <p:nvSpPr>
          <p:cNvPr id="56" name="Data marker 56"/>
          <p:cNvSpPr/>
          <p:nvPr/>
        </p:nvSpPr>
        <p:spPr>
          <a:xfrm>
            <a:off x="3135934" y="2844292"/>
            <a:ext cx="68580" cy="68580"/>
          </a:xfrm>
          <a:prstGeom prst="ellipse">
            <a:avLst/>
          </a:prstGeom>
          <a:solidFill>
            <a:srgbClr val="245B85"/>
          </a:solidFill>
          <a:ln w="12700">
            <a:noFill/>
          </a:ln>
        </p:spPr>
      </p:sp>
      <p:sp>
        <p:nvSpPr>
          <p:cNvPr id="57" name="Data marker 57"/>
          <p:cNvSpPr/>
          <p:nvPr/>
        </p:nvSpPr>
        <p:spPr>
          <a:xfrm>
            <a:off x="3135934" y="2616454"/>
            <a:ext cx="68580" cy="68580"/>
          </a:xfrm>
          <a:prstGeom prst="ellipse">
            <a:avLst/>
          </a:prstGeom>
          <a:solidFill>
            <a:srgbClr val="245B85"/>
          </a:solidFill>
          <a:ln w="12700">
            <a:noFill/>
          </a:ln>
        </p:spPr>
      </p:sp>
      <p:sp>
        <p:nvSpPr>
          <p:cNvPr id="58" name="Data marker 58"/>
          <p:cNvSpPr/>
          <p:nvPr/>
        </p:nvSpPr>
        <p:spPr>
          <a:xfrm>
            <a:off x="3737284" y="2572639"/>
            <a:ext cx="68580" cy="68580"/>
          </a:xfrm>
          <a:prstGeom prst="ellipse">
            <a:avLst/>
          </a:prstGeom>
          <a:solidFill>
            <a:srgbClr val="245B85"/>
          </a:solidFill>
          <a:ln w="12700">
            <a:noFill/>
          </a:ln>
        </p:spPr>
      </p:sp>
      <p:sp>
        <p:nvSpPr>
          <p:cNvPr id="59" name="Data marker 59"/>
          <p:cNvSpPr/>
          <p:nvPr/>
        </p:nvSpPr>
        <p:spPr>
          <a:xfrm>
            <a:off x="4338635" y="2537587"/>
            <a:ext cx="68580" cy="68580"/>
          </a:xfrm>
          <a:prstGeom prst="ellipse">
            <a:avLst/>
          </a:prstGeom>
          <a:solidFill>
            <a:srgbClr val="245B85"/>
          </a:solidFill>
          <a:ln w="12700">
            <a:noFill/>
          </a:ln>
        </p:spPr>
      </p:sp>
      <p:sp>
        <p:nvSpPr>
          <p:cNvPr id="60" name="Data marker 60"/>
          <p:cNvSpPr/>
          <p:nvPr/>
        </p:nvSpPr>
        <p:spPr>
          <a:xfrm>
            <a:off x="4338635" y="2520061"/>
            <a:ext cx="68580" cy="68580"/>
          </a:xfrm>
          <a:prstGeom prst="ellipse">
            <a:avLst/>
          </a:prstGeom>
          <a:solidFill>
            <a:srgbClr val="245B85"/>
          </a:solidFill>
          <a:ln w="12700">
            <a:noFill/>
          </a:ln>
        </p:spPr>
      </p:sp>
      <p:sp>
        <p:nvSpPr>
          <p:cNvPr id="61" name="Data marker 61"/>
          <p:cNvSpPr/>
          <p:nvPr/>
        </p:nvSpPr>
        <p:spPr>
          <a:xfrm>
            <a:off x="4338635" y="2449957"/>
            <a:ext cx="68580" cy="68580"/>
          </a:xfrm>
          <a:prstGeom prst="ellipse">
            <a:avLst/>
          </a:prstGeom>
          <a:solidFill>
            <a:srgbClr val="245B85"/>
          </a:solidFill>
          <a:ln w="12700">
            <a:noFill/>
          </a:ln>
        </p:spPr>
      </p:sp>
      <p:sp>
        <p:nvSpPr>
          <p:cNvPr id="62" name="Data marker 62"/>
          <p:cNvSpPr/>
          <p:nvPr/>
        </p:nvSpPr>
        <p:spPr>
          <a:xfrm>
            <a:off x="4338635" y="2371090"/>
            <a:ext cx="68580" cy="68580"/>
          </a:xfrm>
          <a:prstGeom prst="ellipse">
            <a:avLst/>
          </a:prstGeom>
          <a:solidFill>
            <a:srgbClr val="245B85"/>
          </a:solidFill>
          <a:ln w="12700">
            <a:noFill/>
          </a:ln>
        </p:spPr>
      </p:sp>
      <p:sp>
        <p:nvSpPr>
          <p:cNvPr id="63" name="Data marker 63"/>
          <p:cNvSpPr/>
          <p:nvPr/>
        </p:nvSpPr>
        <p:spPr>
          <a:xfrm>
            <a:off x="4939985" y="2318512"/>
            <a:ext cx="68580" cy="68580"/>
          </a:xfrm>
          <a:prstGeom prst="ellipse">
            <a:avLst/>
          </a:prstGeom>
          <a:solidFill>
            <a:srgbClr val="245B85"/>
          </a:solidFill>
          <a:ln w="12700">
            <a:noFill/>
          </a:ln>
        </p:spPr>
      </p:sp>
      <p:sp>
        <p:nvSpPr>
          <p:cNvPr id="64" name="Data marker 64"/>
          <p:cNvSpPr/>
          <p:nvPr/>
        </p:nvSpPr>
        <p:spPr>
          <a:xfrm>
            <a:off x="7345387" y="2222119"/>
            <a:ext cx="68580" cy="68580"/>
          </a:xfrm>
          <a:prstGeom prst="ellipse">
            <a:avLst/>
          </a:prstGeom>
          <a:solidFill>
            <a:srgbClr val="245B85"/>
          </a:solidFill>
          <a:ln w="12700">
            <a:noFill/>
          </a:ln>
        </p:spPr>
      </p:sp>
      <p:sp>
        <p:nvSpPr>
          <p:cNvPr id="65" name="Data marker 65"/>
          <p:cNvSpPr/>
          <p:nvPr/>
        </p:nvSpPr>
        <p:spPr>
          <a:xfrm>
            <a:off x="7946737" y="2187067"/>
            <a:ext cx="68580" cy="68580"/>
          </a:xfrm>
          <a:prstGeom prst="ellipse">
            <a:avLst/>
          </a:prstGeom>
          <a:solidFill>
            <a:srgbClr val="245B85"/>
          </a:solidFill>
          <a:ln w="12700">
            <a:noFill/>
          </a:ln>
        </p:spPr>
      </p:sp>
      <p:cxnSp>
        <p:nvCxnSpPr>
          <p:cNvPr id="66" name="Connector 66"/>
          <p:cNvCxnSpPr/>
          <p:nvPr/>
        </p:nvCxnSpPr>
        <p:spPr>
          <a:xfrm>
            <a:off x="1320800" y="5981700"/>
            <a:ext cx="330200" cy="0"/>
          </a:xfrm>
          <a:prstGeom prst="line">
            <a:avLst/>
          </a:prstGeom>
          <a:ln w="21590">
            <a:solidFill>
              <a:srgbClr val="245B85"/>
            </a:solidFill>
          </a:ln>
        </p:spPr>
      </p:cxnSp>
      <p:sp>
        <p:nvSpPr>
          <p:cNvPr id="67" name="Text 67"/>
          <p:cNvSpPr/>
          <p:nvPr/>
        </p:nvSpPr>
        <p:spPr>
          <a:xfrm>
            <a:off x="1778000" y="5842000"/>
            <a:ext cx="1841500" cy="304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2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歷史最佳紀錄</a:t>
            </a:r>
            <a:endParaRPr lang="zh-TW" sz="1200"/>
          </a:p>
        </p:txBody>
      </p:sp>
      <p:cxnSp>
        <p:nvCxnSpPr>
          <p:cNvPr id="68" name="Connector 68"/>
          <p:cNvCxnSpPr/>
          <p:nvPr/>
        </p:nvCxnSpPr>
        <p:spPr>
          <a:xfrm>
            <a:off x="4000500" y="5981700"/>
            <a:ext cx="330200" cy="0"/>
          </a:xfrm>
          <a:prstGeom prst="line">
            <a:avLst/>
          </a:prstGeom>
          <a:ln w="12700">
            <a:solidFill>
              <a:srgbClr val="A45D20"/>
            </a:solidFill>
            <a:prstDash val="dash"/>
          </a:ln>
        </p:spPr>
      </p:cxnSp>
      <p:sp>
        <p:nvSpPr>
          <p:cNvPr id="69" name="Text 69"/>
          <p:cNvSpPr/>
          <p:nvPr/>
        </p:nvSpPr>
        <p:spPr>
          <a:xfrm>
            <a:off x="4432300" y="5842000"/>
            <a:ext cx="2463800" cy="304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200" b="0" dirty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先前估計 −2.30</a:t>
            </a:r>
            <a:endParaRPr lang="zh-TW" sz="1200" dirty="0"/>
          </a:p>
        </p:txBody>
      </p:sp>
      <p:sp>
        <p:nvSpPr>
          <p:cNvPr id="70" name="Text 70"/>
          <p:cNvSpPr/>
          <p:nvPr/>
        </p:nvSpPr>
        <p:spPr>
          <a:xfrm>
            <a:off x="8969032" y="2993247"/>
            <a:ext cx="27178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2000" b="1" dirty="0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歷史紀錄</a:t>
            </a:r>
            <a:endParaRPr lang="zh-TW" sz="2000" dirty="0"/>
          </a:p>
        </p:txBody>
      </p:sp>
      <p:sp>
        <p:nvSpPr>
          <p:cNvPr id="71" name="Text 71"/>
          <p:cNvSpPr/>
          <p:nvPr/>
        </p:nvSpPr>
        <p:spPr>
          <a:xfrm>
            <a:off x="8969032" y="3526647"/>
            <a:ext cx="2667000" cy="647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3000" b="1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−2.39 dB</a:t>
            </a:r>
            <a:endParaRPr lang="zh-TW" sz="3000"/>
          </a:p>
        </p:txBody>
      </p:sp>
      <p:sp>
        <p:nvSpPr>
          <p:cNvPr id="72" name="Text 72"/>
          <p:cNvSpPr/>
          <p:nvPr/>
        </p:nvSpPr>
        <p:spPr>
          <a:xfrm>
            <a:off x="8969032" y="4237847"/>
            <a:ext cx="2717800" cy="685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600" b="0" dirty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8/24，smp073_d_040</a:t>
            </a:r>
            <a:endParaRPr lang="zh-TW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3400" y="330200"/>
            <a:ext cx="11125200" cy="584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3000" b="1" dirty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濾波器</a:t>
            </a:r>
            <a:r>
              <a:rPr lang="en-US" altLang="zh-TW" sz="3000" b="1" dirty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S21</a:t>
            </a:r>
            <a:r>
              <a:rPr lang="zh-TW" sz="3000" b="1" dirty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限制</a:t>
            </a:r>
            <a:endParaRPr lang="zh-TW" sz="3000" dirty="0"/>
          </a:p>
        </p:txBody>
      </p:sp>
      <p:cxnSp>
        <p:nvCxnSpPr>
          <p:cNvPr id="3" name="Connector 3"/>
          <p:cNvCxnSpPr/>
          <p:nvPr/>
        </p:nvCxnSpPr>
        <p:spPr>
          <a:xfrm>
            <a:off x="533400" y="1041400"/>
            <a:ext cx="11125200" cy="0"/>
          </a:xfrm>
          <a:prstGeom prst="line">
            <a:avLst/>
          </a:prstGeom>
          <a:ln w="10160">
            <a:solidFill>
              <a:srgbClr val="CCD8E2"/>
            </a:solidFill>
          </a:ln>
        </p:spPr>
      </p:cxnSp>
      <p:cxnSp>
        <p:nvCxnSpPr>
          <p:cNvPr id="4" name="Connector 4"/>
          <p:cNvCxnSpPr/>
          <p:nvPr/>
        </p:nvCxnSpPr>
        <p:spPr>
          <a:xfrm>
            <a:off x="533400" y="1041400"/>
            <a:ext cx="1244600" cy="0"/>
          </a:xfrm>
          <a:prstGeom prst="line">
            <a:avLst/>
          </a:prstGeom>
          <a:ln w="30480">
            <a:solidFill>
              <a:srgbClr val="245B85"/>
            </a:solidFill>
          </a:ln>
        </p:spPr>
      </p:cxnSp>
      <p:sp>
        <p:nvSpPr>
          <p:cNvPr id="5" name="Text 5"/>
          <p:cNvSpPr/>
          <p:nvPr/>
        </p:nvSpPr>
        <p:spPr>
          <a:xfrm>
            <a:off x="11214100" y="6451600"/>
            <a:ext cx="4318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altLang="zh-TW" sz="11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6</a:t>
            </a:r>
            <a:endParaRPr lang="zh-TW" sz="1100"/>
          </a:p>
        </p:txBody>
      </p:sp>
      <p:sp>
        <p:nvSpPr>
          <p:cNvPr id="7" name="Text 7"/>
          <p:cNvSpPr/>
          <p:nvPr/>
        </p:nvSpPr>
        <p:spPr>
          <a:xfrm>
            <a:off x="533400" y="1384300"/>
            <a:ext cx="11125200" cy="558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80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規格：S11／S22 帶內 ≤ −10 dB。S21 通帶 ≥ −3 dB、阻帶 ≤ −15 dB。</a:t>
            </a:r>
            <a:endParaRPr lang="zh-TW" sz="1800"/>
          </a:p>
        </p:txBody>
      </p:sp>
      <p:pic>
        <p:nvPicPr>
          <p:cNvPr id="8" name="dual_top5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298700"/>
            <a:ext cx="11125200" cy="3048000"/>
          </a:xfrm>
          <a:prstGeom prst="rect">
            <a:avLst/>
          </a:prstGeom>
        </p:spPr>
      </p:pic>
      <p:sp>
        <p:nvSpPr>
          <p:cNvPr id="9" name="Text 9"/>
          <p:cNvSpPr/>
          <p:nvPr/>
        </p:nvSpPr>
        <p:spPr>
          <a:xfrm>
            <a:off x="533400" y="5842000"/>
            <a:ext cx="11125200" cy="482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altLang="zh-TW" sz="2000" dirty="0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S21 </a:t>
            </a:r>
            <a:r>
              <a:rPr lang="zh-TW" altLang="en-US" sz="2000" dirty="0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通帶與阻代之間的轉換，要完全符合規格，必須是直角轉換，這近乎不可能</a:t>
            </a:r>
            <a:r>
              <a:rPr lang="zh-TW" sz="2000" b="0" dirty="0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 lang="zh-TW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1214100" y="6451600"/>
            <a:ext cx="4318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altLang="zh-TW" sz="11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7</a:t>
            </a:r>
            <a:endParaRPr lang="zh-TW" sz="1100"/>
          </a:p>
        </p:txBody>
      </p:sp>
      <p:cxnSp>
        <p:nvCxnSpPr>
          <p:cNvPr id="3" name="Connector 3"/>
          <p:cNvCxnSpPr/>
          <p:nvPr/>
        </p:nvCxnSpPr>
        <p:spPr>
          <a:xfrm>
            <a:off x="825500" y="1905000"/>
            <a:ext cx="0" cy="2374900"/>
          </a:xfrm>
          <a:prstGeom prst="line">
            <a:avLst/>
          </a:prstGeom>
          <a:ln w="50800">
            <a:solidFill>
              <a:srgbClr val="245B85"/>
            </a:solidFill>
          </a:ln>
        </p:spPr>
      </p:cxnSp>
      <p:sp>
        <p:nvSpPr>
          <p:cNvPr id="4" name="Text 4"/>
          <p:cNvSpPr/>
          <p:nvPr/>
        </p:nvSpPr>
        <p:spPr>
          <a:xfrm>
            <a:off x="1219200" y="2381250"/>
            <a:ext cx="10033000" cy="8255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altLang="zh-TW" sz="4200" b="1" dirty="0" err="1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emforge</a:t>
            </a:r>
            <a:endParaRPr lang="zh-TW" sz="4200" dirty="0"/>
          </a:p>
        </p:txBody>
      </p:sp>
      <p:sp>
        <p:nvSpPr>
          <p:cNvPr id="5" name="Text 5"/>
          <p:cNvSpPr/>
          <p:nvPr/>
        </p:nvSpPr>
        <p:spPr>
          <a:xfrm>
            <a:off x="1219200" y="3270250"/>
            <a:ext cx="10033000" cy="673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altLang="zh-TW" sz="3200" b="0" dirty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模擬搜尋框架</a:t>
            </a:r>
            <a:endParaRPr lang="zh-TW" sz="3200" dirty="0"/>
          </a:p>
        </p:txBody>
      </p:sp>
    </p:spTree>
    <p:extLst>
      <p:ext uri="{BB962C8B-B14F-4D97-AF65-F5344CB8AC3E}">
        <p14:creationId xmlns:p14="http://schemas.microsoft.com/office/powerpoint/2010/main" val="957091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3400" y="330200"/>
            <a:ext cx="11125200" cy="584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altLang="en-US" sz="3000" b="1" dirty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什麼是真的有效的策略</a:t>
            </a:r>
            <a:r>
              <a:rPr lang="en-US" altLang="zh-TW" sz="3000" b="1" dirty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?</a:t>
            </a:r>
            <a:endParaRPr lang="zh-TW" sz="3000" dirty="0"/>
          </a:p>
        </p:txBody>
      </p:sp>
      <p:cxnSp>
        <p:nvCxnSpPr>
          <p:cNvPr id="3" name="Connector 3"/>
          <p:cNvCxnSpPr/>
          <p:nvPr/>
        </p:nvCxnSpPr>
        <p:spPr>
          <a:xfrm>
            <a:off x="533400" y="1041400"/>
            <a:ext cx="11125200" cy="0"/>
          </a:xfrm>
          <a:prstGeom prst="line">
            <a:avLst/>
          </a:prstGeom>
          <a:ln w="10160">
            <a:solidFill>
              <a:srgbClr val="CCD8E2"/>
            </a:solidFill>
          </a:ln>
        </p:spPr>
      </p:cxnSp>
      <p:cxnSp>
        <p:nvCxnSpPr>
          <p:cNvPr id="4" name="Connector 4"/>
          <p:cNvCxnSpPr/>
          <p:nvPr/>
        </p:nvCxnSpPr>
        <p:spPr>
          <a:xfrm>
            <a:off x="533400" y="1041400"/>
            <a:ext cx="1244600" cy="0"/>
          </a:xfrm>
          <a:prstGeom prst="line">
            <a:avLst/>
          </a:prstGeom>
          <a:ln w="30480">
            <a:solidFill>
              <a:srgbClr val="245B85"/>
            </a:solidFill>
          </a:ln>
        </p:spPr>
      </p:cxnSp>
      <p:sp>
        <p:nvSpPr>
          <p:cNvPr id="5" name="Text 5"/>
          <p:cNvSpPr/>
          <p:nvPr/>
        </p:nvSpPr>
        <p:spPr>
          <a:xfrm>
            <a:off x="11214100" y="6451600"/>
            <a:ext cx="4318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altLang="zh-TW" sz="11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8</a:t>
            </a:r>
            <a:endParaRPr lang="zh-TW" sz="110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F1B4C275-D970-BE96-B9DD-CD36FA330907}"/>
              </a:ext>
            </a:extLst>
          </p:cNvPr>
          <p:cNvSpPr/>
          <p:nvPr/>
        </p:nvSpPr>
        <p:spPr>
          <a:xfrm>
            <a:off x="533400" y="1320800"/>
            <a:ext cx="50800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altLang="en-US" sz="2000" b="1" dirty="0">
                <a:solidFill>
                  <a:srgbClr val="245B85"/>
                </a:solidFill>
                <a:latin typeface="Microsoft JhengHei"/>
                <a:ea typeface="Microsoft JhengHei"/>
              </a:rPr>
              <a:t>從歷史資料中找尋好的起點</a:t>
            </a:r>
            <a:endParaRPr lang="zh-TW" sz="20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FCAFF40F-57A1-96E3-BC41-C53A919695D2}"/>
              </a:ext>
            </a:extLst>
          </p:cNvPr>
          <p:cNvSpPr/>
          <p:nvPr/>
        </p:nvSpPr>
        <p:spPr>
          <a:xfrm>
            <a:off x="533400" y="1803400"/>
            <a:ext cx="7383780" cy="380999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altLang="en-US" sz="1750" b="0" dirty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在天線的探索中相對於隨機找起點能有約 </a:t>
            </a:r>
            <a:r>
              <a:rPr lang="en-US" altLang="zh-TW" sz="1750" b="0" dirty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+3 </a:t>
            </a:r>
            <a:r>
              <a:rPr lang="en-US" altLang="zh-TW" sz="1750" b="0" dirty="0" err="1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db</a:t>
            </a:r>
            <a:r>
              <a:rPr lang="zh-TW" altLang="en-US" sz="1750" b="0" dirty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 的 </a:t>
            </a:r>
            <a:r>
              <a:rPr lang="en-US" altLang="zh-TW" sz="1750" b="0" dirty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worst margin </a:t>
            </a:r>
            <a:r>
              <a:rPr lang="zh-TW" altLang="en-US" sz="1750" b="0" dirty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優勢</a:t>
            </a:r>
            <a:endParaRPr lang="zh-TW" sz="17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9279BE2-9CE9-927A-6E50-F8993DBFD57A}"/>
              </a:ext>
            </a:extLst>
          </p:cNvPr>
          <p:cNvSpPr/>
          <p:nvPr/>
        </p:nvSpPr>
        <p:spPr>
          <a:xfrm>
            <a:off x="8153400" y="1422401"/>
            <a:ext cx="3492500" cy="380999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altLang="zh-TW" sz="1750" b="0" dirty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worst margin</a:t>
            </a:r>
            <a:r>
              <a:rPr lang="zh-TW" altLang="en-US" sz="1750" b="0" dirty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：離不合規的距離</a:t>
            </a:r>
            <a:endParaRPr lang="zh-TW" sz="1750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EF2B5BA-7D7F-75FD-E3AC-0B4A1706C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1803400"/>
            <a:ext cx="2440730" cy="2071743"/>
          </a:xfrm>
          <a:prstGeom prst="rect">
            <a:avLst/>
          </a:prstGeom>
        </p:spPr>
      </p:pic>
      <p:sp>
        <p:nvSpPr>
          <p:cNvPr id="14" name="橢圓 13">
            <a:extLst>
              <a:ext uri="{FF2B5EF4-FFF2-40B4-BE49-F238E27FC236}">
                <a16:creationId xmlns:a16="http://schemas.microsoft.com/office/drawing/2014/main" id="{12E9E6F0-BD36-4DB6-998B-9017D5FF58D4}"/>
              </a:ext>
            </a:extLst>
          </p:cNvPr>
          <p:cNvSpPr/>
          <p:nvPr/>
        </p:nvSpPr>
        <p:spPr>
          <a:xfrm>
            <a:off x="9598660" y="2326640"/>
            <a:ext cx="127000" cy="180340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9EBAF8E1-DBAD-4F82-E620-FAA26A3A38C0}"/>
              </a:ext>
            </a:extLst>
          </p:cNvPr>
          <p:cNvSpPr/>
          <p:nvPr/>
        </p:nvSpPr>
        <p:spPr>
          <a:xfrm>
            <a:off x="533400" y="2469319"/>
            <a:ext cx="50800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altLang="zh-TW" sz="2000" b="1" dirty="0">
                <a:solidFill>
                  <a:srgbClr val="245B85"/>
                </a:solidFill>
                <a:latin typeface="Microsoft JhengHei"/>
                <a:ea typeface="Microsoft JhengHei"/>
              </a:rPr>
              <a:t>Simulator Model</a:t>
            </a:r>
            <a:r>
              <a:rPr lang="zh-TW" altLang="en-US" sz="2000" b="1" dirty="0">
                <a:solidFill>
                  <a:srgbClr val="245B85"/>
                </a:solidFill>
                <a:latin typeface="Microsoft JhengHei"/>
                <a:ea typeface="Microsoft JhengHei"/>
              </a:rPr>
              <a:t> 性能預測</a:t>
            </a:r>
            <a:endParaRPr lang="zh-TW" sz="20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0E7A6BFB-B6F6-C086-FD01-2A0A93857932}"/>
              </a:ext>
            </a:extLst>
          </p:cNvPr>
          <p:cNvSpPr/>
          <p:nvPr/>
        </p:nvSpPr>
        <p:spPr>
          <a:xfrm>
            <a:off x="533400" y="2951919"/>
            <a:ext cx="7383780" cy="73218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altLang="zh-TW" sz="1750" dirty="0">
                <a:solidFill>
                  <a:srgbClr val="152C3D"/>
                </a:solidFill>
                <a:latin typeface="Microsoft JhengHei"/>
                <a:ea typeface="Microsoft JhengHei"/>
              </a:rPr>
              <a:t>Simulator Model </a:t>
            </a:r>
            <a:r>
              <a:rPr lang="zh-TW" altLang="en-US" sz="1750" dirty="0">
                <a:solidFill>
                  <a:srgbClr val="152C3D"/>
                </a:solidFill>
                <a:latin typeface="Microsoft JhengHei"/>
                <a:ea typeface="Microsoft JhengHei"/>
              </a:rPr>
              <a:t>本質上是一個極度便宜的驗證器，不管產生 </a:t>
            </a:r>
            <a:r>
              <a:rPr lang="en-US" altLang="zh-TW" sz="1750" dirty="0">
                <a:solidFill>
                  <a:srgbClr val="152C3D"/>
                </a:solidFill>
                <a:latin typeface="Microsoft JhengHei"/>
                <a:ea typeface="Microsoft JhengHei"/>
              </a:rPr>
              <a:t>pattern</a:t>
            </a:r>
            <a:r>
              <a:rPr lang="zh-TW" altLang="en-US" sz="1750" dirty="0">
                <a:solidFill>
                  <a:srgbClr val="152C3D"/>
                </a:solidFill>
                <a:latin typeface="Microsoft JhengHei"/>
                <a:ea typeface="Microsoft JhengHei"/>
              </a:rPr>
              <a:t> 的方法如何，都可以利用 </a:t>
            </a:r>
            <a:r>
              <a:rPr lang="en-US" altLang="zh-TW" sz="1750" dirty="0">
                <a:solidFill>
                  <a:srgbClr val="152C3D"/>
                </a:solidFill>
                <a:latin typeface="Microsoft JhengHei"/>
                <a:ea typeface="Microsoft JhengHei"/>
              </a:rPr>
              <a:t>Simulator Model </a:t>
            </a:r>
            <a:r>
              <a:rPr lang="zh-TW" altLang="en-US" sz="1750" dirty="0">
                <a:solidFill>
                  <a:srgbClr val="152C3D"/>
                </a:solidFill>
                <a:latin typeface="Microsoft JhengHei"/>
                <a:ea typeface="Microsoft JhengHei"/>
              </a:rPr>
              <a:t>預測較為有效的 </a:t>
            </a:r>
            <a:r>
              <a:rPr lang="en-US" altLang="zh-TW" sz="1750" dirty="0">
                <a:solidFill>
                  <a:srgbClr val="152C3D"/>
                </a:solidFill>
                <a:latin typeface="Microsoft JhengHei"/>
                <a:ea typeface="Microsoft JhengHei"/>
              </a:rPr>
              <a:t>Pattern</a:t>
            </a:r>
            <a:r>
              <a:rPr lang="zh-TW" altLang="en-US" sz="1750" dirty="0">
                <a:solidFill>
                  <a:srgbClr val="152C3D"/>
                </a:solidFill>
                <a:latin typeface="Microsoft JhengHei"/>
                <a:ea typeface="Microsoft JhengHei"/>
              </a:rPr>
              <a:t> 優先嘗試。</a:t>
            </a:r>
            <a:endParaRPr lang="zh-TW" sz="175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90D64E45-A4AD-ED1B-23CD-8D0897CA2D4F}"/>
              </a:ext>
            </a:extLst>
          </p:cNvPr>
          <p:cNvSpPr/>
          <p:nvPr/>
        </p:nvSpPr>
        <p:spPr>
          <a:xfrm>
            <a:off x="533400" y="3881767"/>
            <a:ext cx="50800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altLang="en-US" sz="2000" b="1" dirty="0">
                <a:solidFill>
                  <a:srgbClr val="245B85"/>
                </a:solidFill>
                <a:latin typeface="Microsoft JhengHei"/>
                <a:ea typeface="Microsoft JhengHei"/>
              </a:rPr>
              <a:t>善用可運行 </a:t>
            </a:r>
            <a:r>
              <a:rPr lang="en-US" altLang="zh-TW" sz="2000" b="1" dirty="0">
                <a:solidFill>
                  <a:srgbClr val="245B85"/>
                </a:solidFill>
                <a:latin typeface="Microsoft JhengHei"/>
                <a:ea typeface="Microsoft JhengHei"/>
              </a:rPr>
              <a:t>HFSS</a:t>
            </a:r>
            <a:r>
              <a:rPr lang="zh-TW" altLang="en-US" sz="2000" b="1" dirty="0">
                <a:solidFill>
                  <a:srgbClr val="245B85"/>
                </a:solidFill>
                <a:latin typeface="Microsoft JhengHei"/>
                <a:ea typeface="Microsoft JhengHei"/>
              </a:rPr>
              <a:t> 的所有機會</a:t>
            </a:r>
            <a:endParaRPr lang="zh-TW" sz="20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1106BE1C-DD9F-D6D3-9FB1-8FF35041C667}"/>
              </a:ext>
            </a:extLst>
          </p:cNvPr>
          <p:cNvSpPr/>
          <p:nvPr/>
        </p:nvSpPr>
        <p:spPr>
          <a:xfrm>
            <a:off x="533400" y="4364367"/>
            <a:ext cx="10585174" cy="69023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altLang="en-US" sz="1750" dirty="0">
                <a:solidFill>
                  <a:srgbClr val="152C3D"/>
                </a:solidFill>
                <a:latin typeface="Microsoft JhengHei"/>
                <a:ea typeface="Microsoft JhengHei"/>
              </a:rPr>
              <a:t>維文的研究最後留下 </a:t>
            </a:r>
            <a:r>
              <a:rPr lang="en-US" altLang="zh-TW" sz="1750" dirty="0">
                <a:solidFill>
                  <a:srgbClr val="152C3D"/>
                </a:solidFill>
                <a:latin typeface="Microsoft JhengHei"/>
                <a:ea typeface="Microsoft JhengHei"/>
              </a:rPr>
              <a:t>40000 </a:t>
            </a:r>
            <a:r>
              <a:rPr lang="zh-TW" altLang="en-US" sz="1750" dirty="0">
                <a:solidFill>
                  <a:srgbClr val="152C3D"/>
                </a:solidFill>
                <a:latin typeface="Microsoft JhengHei"/>
                <a:ea typeface="Microsoft JhengHei"/>
              </a:rPr>
              <a:t>筆的龐大資料集，但這是一整年的成果，整個過程因為要跑線上學習等其他計算，造成跑模擬的機會浪費。在我設計的新系統下，一週約可以取得 </a:t>
            </a:r>
            <a:r>
              <a:rPr lang="en-US" altLang="zh-TW" sz="1750" dirty="0">
                <a:solidFill>
                  <a:srgbClr val="152C3D"/>
                </a:solidFill>
                <a:latin typeface="Microsoft JhengHei"/>
                <a:ea typeface="Microsoft JhengHei"/>
              </a:rPr>
              <a:t>~9100</a:t>
            </a:r>
            <a:r>
              <a:rPr lang="zh-TW" altLang="en-US" sz="1750" dirty="0">
                <a:solidFill>
                  <a:srgbClr val="152C3D"/>
                </a:solidFill>
                <a:latin typeface="Microsoft JhengHei"/>
                <a:ea typeface="Microsoft JhengHei"/>
              </a:rPr>
              <a:t> 筆的資料。</a:t>
            </a:r>
            <a:endParaRPr lang="zh-TW" sz="175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73832B7A-F235-1D8E-0065-B592BB3ACF2C}"/>
              </a:ext>
            </a:extLst>
          </p:cNvPr>
          <p:cNvSpPr/>
          <p:nvPr/>
        </p:nvSpPr>
        <p:spPr>
          <a:xfrm>
            <a:off x="533400" y="5278766"/>
            <a:ext cx="50800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altLang="en-US" sz="2000" b="1" dirty="0">
                <a:solidFill>
                  <a:srgbClr val="245B85"/>
                </a:solidFill>
                <a:latin typeface="Microsoft JhengHei"/>
                <a:ea typeface="Microsoft JhengHei"/>
              </a:rPr>
              <a:t>快速迭代</a:t>
            </a:r>
            <a:endParaRPr lang="zh-TW" sz="20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AB8FABAD-3F61-2C15-BEF0-0F995A8FE58D}"/>
              </a:ext>
            </a:extLst>
          </p:cNvPr>
          <p:cNvSpPr/>
          <p:nvPr/>
        </p:nvSpPr>
        <p:spPr>
          <a:xfrm>
            <a:off x="533400" y="5761366"/>
            <a:ext cx="10585174" cy="690234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altLang="en-US" sz="1750" dirty="0">
                <a:solidFill>
                  <a:srgbClr val="152C3D"/>
                </a:solidFill>
                <a:latin typeface="Microsoft JhengHei"/>
                <a:ea typeface="Microsoft JhengHei"/>
              </a:rPr>
              <a:t>對於任意算法，快速驗證有效性、改善算法瓶頸，以最有效的利用有限的 </a:t>
            </a:r>
            <a:r>
              <a:rPr lang="en-US" altLang="zh-TW" sz="1750" dirty="0">
                <a:solidFill>
                  <a:srgbClr val="152C3D"/>
                </a:solidFill>
                <a:latin typeface="Microsoft JhengHei"/>
                <a:ea typeface="Microsoft JhengHei"/>
              </a:rPr>
              <a:t>HFSS</a:t>
            </a:r>
            <a:r>
              <a:rPr lang="zh-TW" altLang="en-US" sz="1750" dirty="0">
                <a:solidFill>
                  <a:srgbClr val="152C3D"/>
                </a:solidFill>
                <a:latin typeface="Microsoft JhengHei"/>
                <a:ea typeface="Microsoft JhengHei"/>
              </a:rPr>
              <a:t> 算力。</a:t>
            </a:r>
            <a:endParaRPr lang="zh-TW" sz="1750" dirty="0"/>
          </a:p>
        </p:txBody>
      </p:sp>
    </p:spTree>
    <p:extLst>
      <p:ext uri="{BB962C8B-B14F-4D97-AF65-F5344CB8AC3E}">
        <p14:creationId xmlns:p14="http://schemas.microsoft.com/office/powerpoint/2010/main" val="3536480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3400" y="330200"/>
            <a:ext cx="11125200" cy="584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3000" b="1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emforge 框架與模組分工</a:t>
            </a:r>
            <a:endParaRPr lang="zh-TW" sz="3000"/>
          </a:p>
        </p:txBody>
      </p:sp>
      <p:cxnSp>
        <p:nvCxnSpPr>
          <p:cNvPr id="3" name="Connector 3"/>
          <p:cNvCxnSpPr/>
          <p:nvPr/>
        </p:nvCxnSpPr>
        <p:spPr>
          <a:xfrm>
            <a:off x="533400" y="1041400"/>
            <a:ext cx="11125200" cy="0"/>
          </a:xfrm>
          <a:prstGeom prst="line">
            <a:avLst/>
          </a:prstGeom>
          <a:ln w="10160">
            <a:solidFill>
              <a:srgbClr val="CCD8E2"/>
            </a:solidFill>
          </a:ln>
        </p:spPr>
      </p:cxnSp>
      <p:cxnSp>
        <p:nvCxnSpPr>
          <p:cNvPr id="4" name="Connector 4"/>
          <p:cNvCxnSpPr/>
          <p:nvPr/>
        </p:nvCxnSpPr>
        <p:spPr>
          <a:xfrm>
            <a:off x="533400" y="1041400"/>
            <a:ext cx="1244600" cy="0"/>
          </a:xfrm>
          <a:prstGeom prst="line">
            <a:avLst/>
          </a:prstGeom>
          <a:ln w="30480">
            <a:solidFill>
              <a:srgbClr val="245B85"/>
            </a:solidFill>
          </a:ln>
        </p:spPr>
      </p:cxnSp>
      <p:sp>
        <p:nvSpPr>
          <p:cNvPr id="5" name="Text 5"/>
          <p:cNvSpPr/>
          <p:nvPr/>
        </p:nvSpPr>
        <p:spPr>
          <a:xfrm>
            <a:off x="11214100" y="6451600"/>
            <a:ext cx="4318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altLang="zh-TW" sz="11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9</a:t>
            </a:r>
            <a:endParaRPr lang="zh-TW" sz="1100"/>
          </a:p>
        </p:txBody>
      </p:sp>
      <p:sp>
        <p:nvSpPr>
          <p:cNvPr id="6" name="Text 6"/>
          <p:cNvSpPr/>
          <p:nvPr/>
        </p:nvSpPr>
        <p:spPr>
          <a:xfrm>
            <a:off x="533400" y="6388100"/>
            <a:ext cx="104394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150" b="0" dirty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AI 為可選外層。排程、求解與收件迴圈可獨立持續執行。</a:t>
            </a:r>
            <a:endParaRPr lang="zh-TW" sz="1150" dirty="0"/>
          </a:p>
        </p:txBody>
      </p:sp>
      <p:sp>
        <p:nvSpPr>
          <p:cNvPr id="7" name="Component 7"/>
          <p:cNvSpPr/>
          <p:nvPr/>
        </p:nvSpPr>
        <p:spPr>
          <a:xfrm>
            <a:off x="3530600" y="1397000"/>
            <a:ext cx="5156200" cy="1003300"/>
          </a:xfrm>
          <a:prstGeom prst="rect">
            <a:avLst/>
          </a:prstGeom>
          <a:solidFill>
            <a:srgbClr val="EEF4F8"/>
          </a:solidFill>
          <a:ln w="12700">
            <a:solidFill>
              <a:srgbClr val="087F83"/>
            </a:solidFill>
          </a:ln>
        </p:spPr>
      </p:sp>
      <p:sp>
        <p:nvSpPr>
          <p:cNvPr id="8" name="Text 8"/>
          <p:cNvSpPr/>
          <p:nvPr/>
        </p:nvSpPr>
        <p:spPr>
          <a:xfrm>
            <a:off x="3708400" y="1536700"/>
            <a:ext cx="48006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900" b="1">
                <a:solidFill>
                  <a:srgbClr val="087F83"/>
                </a:solidFill>
                <a:latin typeface="Microsoft JhengHei"/>
                <a:ea typeface="Microsoft JhengHei"/>
                <a:cs typeface="Microsoft JhengHei"/>
              </a:rPr>
              <a:t>人／AI 操作層</a:t>
            </a:r>
            <a:endParaRPr lang="zh-TW" sz="1900"/>
          </a:p>
        </p:txBody>
      </p:sp>
      <p:sp>
        <p:nvSpPr>
          <p:cNvPr id="9" name="Text 9"/>
          <p:cNvSpPr/>
          <p:nvPr/>
        </p:nvSpPr>
        <p:spPr>
          <a:xfrm>
            <a:off x="3708400" y="1993900"/>
            <a:ext cx="4800600" cy="3429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查詢、提出實驗、啟停已登錄算法</a:t>
            </a:r>
            <a:endParaRPr lang="zh-TW" sz="1550"/>
          </a:p>
        </p:txBody>
      </p:sp>
      <p:cxnSp>
        <p:nvCxnSpPr>
          <p:cNvPr id="10" name="Connector 10"/>
          <p:cNvCxnSpPr/>
          <p:nvPr/>
        </p:nvCxnSpPr>
        <p:spPr>
          <a:xfrm>
            <a:off x="6108700" y="2400300"/>
            <a:ext cx="0" cy="457200"/>
          </a:xfrm>
          <a:prstGeom prst="line">
            <a:avLst/>
          </a:prstGeom>
          <a:ln w="19050">
            <a:solidFill>
              <a:srgbClr val="087F83"/>
            </a:solidFill>
            <a:tailEnd type="triangle" w="med" len="med"/>
          </a:ln>
        </p:spPr>
      </p:cxnSp>
      <p:sp>
        <p:nvSpPr>
          <p:cNvPr id="11" name="Component 11"/>
          <p:cNvSpPr/>
          <p:nvPr/>
        </p:nvSpPr>
        <p:spPr>
          <a:xfrm>
            <a:off x="533400" y="2984500"/>
            <a:ext cx="2578100" cy="1600200"/>
          </a:xfrm>
          <a:prstGeom prst="rect">
            <a:avLst/>
          </a:prstGeom>
          <a:solidFill>
            <a:srgbClr val="EEF4F8"/>
          </a:solidFill>
          <a:ln w="12700">
            <a:solidFill>
              <a:srgbClr val="245B85"/>
            </a:solidFill>
          </a:ln>
        </p:spPr>
      </p:sp>
      <p:sp>
        <p:nvSpPr>
          <p:cNvPr id="12" name="Text 12"/>
          <p:cNvSpPr/>
          <p:nvPr/>
        </p:nvSpPr>
        <p:spPr>
          <a:xfrm>
            <a:off x="711200" y="3124200"/>
            <a:ext cx="22225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900" b="1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算法／策略</a:t>
            </a:r>
            <a:endParaRPr lang="zh-TW" sz="1900"/>
          </a:p>
        </p:txBody>
      </p:sp>
      <p:sp>
        <p:nvSpPr>
          <p:cNvPr id="13" name="Text 13"/>
          <p:cNvSpPr/>
          <p:nvPr/>
        </p:nvSpPr>
        <p:spPr>
          <a:xfrm>
            <a:off x="711200" y="3581400"/>
            <a:ext cx="2222500" cy="939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候選生成</a:t>
            </a:r>
            <a:endParaRPr lang="zh-TW" sz="1550"/>
          </a:p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可使用代理模型</a:t>
            </a:r>
            <a:endParaRPr lang="zh-TW" sz="1550"/>
          </a:p>
        </p:txBody>
      </p:sp>
      <p:sp>
        <p:nvSpPr>
          <p:cNvPr id="14" name="Component 14"/>
          <p:cNvSpPr/>
          <p:nvPr/>
        </p:nvSpPr>
        <p:spPr>
          <a:xfrm>
            <a:off x="4038600" y="2857500"/>
            <a:ext cx="4140200" cy="1841500"/>
          </a:xfrm>
          <a:prstGeom prst="rect">
            <a:avLst/>
          </a:prstGeom>
          <a:solidFill>
            <a:srgbClr val="EEF4F8"/>
          </a:solidFill>
          <a:ln w="12700">
            <a:solidFill>
              <a:srgbClr val="245B85"/>
            </a:solidFill>
          </a:ln>
        </p:spPr>
      </p:sp>
      <p:sp>
        <p:nvSpPr>
          <p:cNvPr id="15" name="Text 15"/>
          <p:cNvSpPr/>
          <p:nvPr/>
        </p:nvSpPr>
        <p:spPr>
          <a:xfrm>
            <a:off x="4216400" y="2997200"/>
            <a:ext cx="37846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900" b="1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Runtime 協調層</a:t>
            </a:r>
            <a:endParaRPr lang="zh-TW" sz="1900"/>
          </a:p>
        </p:txBody>
      </p:sp>
      <p:sp>
        <p:nvSpPr>
          <p:cNvPr id="16" name="Text 16"/>
          <p:cNvSpPr/>
          <p:nvPr/>
        </p:nvSpPr>
        <p:spPr>
          <a:xfrm>
            <a:off x="4216400" y="3454400"/>
            <a:ext cx="3784600" cy="1181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驗證、去重、排程</a:t>
            </a:r>
            <a:endParaRPr lang="zh-TW" sz="1550"/>
          </a:p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收件、量測、評分</a:t>
            </a:r>
            <a:endParaRPr lang="zh-TW" sz="1550"/>
          </a:p>
        </p:txBody>
      </p:sp>
      <p:sp>
        <p:nvSpPr>
          <p:cNvPr id="17" name="Component 17"/>
          <p:cNvSpPr/>
          <p:nvPr/>
        </p:nvSpPr>
        <p:spPr>
          <a:xfrm>
            <a:off x="9093200" y="2984500"/>
            <a:ext cx="2565400" cy="1600200"/>
          </a:xfrm>
          <a:prstGeom prst="rect">
            <a:avLst/>
          </a:prstGeom>
          <a:solidFill>
            <a:srgbClr val="EEF4F8"/>
          </a:solidFill>
          <a:ln w="12700">
            <a:solidFill>
              <a:srgbClr val="245B85"/>
            </a:solidFill>
          </a:ln>
        </p:spPr>
      </p:sp>
      <p:sp>
        <p:nvSpPr>
          <p:cNvPr id="18" name="Text 18"/>
          <p:cNvSpPr/>
          <p:nvPr/>
        </p:nvSpPr>
        <p:spPr>
          <a:xfrm>
            <a:off x="9271000" y="3124200"/>
            <a:ext cx="22098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900" b="1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Worker／HFSS</a:t>
            </a:r>
            <a:endParaRPr lang="zh-TW" sz="1900"/>
          </a:p>
        </p:txBody>
      </p:sp>
      <p:sp>
        <p:nvSpPr>
          <p:cNvPr id="19" name="Text 19"/>
          <p:cNvSpPr/>
          <p:nvPr/>
        </p:nvSpPr>
        <p:spPr>
          <a:xfrm>
            <a:off x="9271000" y="3581400"/>
            <a:ext cx="2209800" cy="939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依固定條件求解</a:t>
            </a:r>
            <a:endParaRPr lang="zh-TW" sz="1550"/>
          </a:p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回傳原始響應</a:t>
            </a:r>
            <a:endParaRPr lang="zh-TW" sz="1550"/>
          </a:p>
        </p:txBody>
      </p:sp>
      <p:cxnSp>
        <p:nvCxnSpPr>
          <p:cNvPr id="20" name="Connector 20"/>
          <p:cNvCxnSpPr/>
          <p:nvPr/>
        </p:nvCxnSpPr>
        <p:spPr>
          <a:xfrm>
            <a:off x="3111500" y="3619500"/>
            <a:ext cx="927100" cy="0"/>
          </a:xfrm>
          <a:prstGeom prst="line">
            <a:avLst/>
          </a:prstGeom>
          <a:ln w="19050">
            <a:solidFill>
              <a:srgbClr val="245B85"/>
            </a:solidFill>
            <a:tailEnd type="triangle" w="med" len="med"/>
          </a:ln>
        </p:spPr>
      </p:cxnSp>
      <p:cxnSp>
        <p:nvCxnSpPr>
          <p:cNvPr id="21" name="Connector 21"/>
          <p:cNvCxnSpPr/>
          <p:nvPr/>
        </p:nvCxnSpPr>
        <p:spPr>
          <a:xfrm>
            <a:off x="8178800" y="3619500"/>
            <a:ext cx="914400" cy="0"/>
          </a:xfrm>
          <a:prstGeom prst="line">
            <a:avLst/>
          </a:prstGeom>
          <a:ln w="19050">
            <a:solidFill>
              <a:srgbClr val="245B85"/>
            </a:solidFill>
            <a:tailEnd type="triangle" w="med" len="med"/>
          </a:ln>
        </p:spPr>
      </p:cxnSp>
      <p:sp>
        <p:nvSpPr>
          <p:cNvPr id="22" name="Text 22"/>
          <p:cNvSpPr/>
          <p:nvPr/>
        </p:nvSpPr>
        <p:spPr>
          <a:xfrm>
            <a:off x="3175000" y="3238500"/>
            <a:ext cx="838200" cy="279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3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候選</a:t>
            </a:r>
            <a:endParaRPr lang="zh-TW" sz="1300"/>
          </a:p>
        </p:txBody>
      </p:sp>
      <p:sp>
        <p:nvSpPr>
          <p:cNvPr id="23" name="Text 23"/>
          <p:cNvSpPr/>
          <p:nvPr/>
        </p:nvSpPr>
        <p:spPr>
          <a:xfrm>
            <a:off x="8242300" y="3238500"/>
            <a:ext cx="774700" cy="279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3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派工</a:t>
            </a:r>
            <a:endParaRPr lang="zh-TW" sz="1300"/>
          </a:p>
        </p:txBody>
      </p:sp>
      <p:cxnSp>
        <p:nvCxnSpPr>
          <p:cNvPr id="24" name="Connector 24"/>
          <p:cNvCxnSpPr/>
          <p:nvPr/>
        </p:nvCxnSpPr>
        <p:spPr>
          <a:xfrm flipH="1">
            <a:off x="8178800" y="4254500"/>
            <a:ext cx="914400" cy="0"/>
          </a:xfrm>
          <a:prstGeom prst="line">
            <a:avLst/>
          </a:prstGeom>
          <a:ln w="19050">
            <a:solidFill>
              <a:srgbClr val="245B85"/>
            </a:solidFill>
            <a:tailEnd type="triangle" w="med" len="med"/>
          </a:ln>
        </p:spPr>
      </p:cxnSp>
      <p:sp>
        <p:nvSpPr>
          <p:cNvPr id="25" name="Text 25"/>
          <p:cNvSpPr/>
          <p:nvPr/>
        </p:nvSpPr>
        <p:spPr>
          <a:xfrm>
            <a:off x="8242300" y="4318000"/>
            <a:ext cx="812800" cy="279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3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結果</a:t>
            </a:r>
            <a:endParaRPr lang="zh-TW" sz="1300"/>
          </a:p>
        </p:txBody>
      </p:sp>
      <p:sp>
        <p:nvSpPr>
          <p:cNvPr id="26" name="Component 26"/>
          <p:cNvSpPr/>
          <p:nvPr/>
        </p:nvSpPr>
        <p:spPr>
          <a:xfrm>
            <a:off x="2286000" y="5219700"/>
            <a:ext cx="7658100" cy="914400"/>
          </a:xfrm>
          <a:prstGeom prst="rect">
            <a:avLst/>
          </a:prstGeom>
          <a:solidFill>
            <a:srgbClr val="EEF4F8"/>
          </a:solidFill>
          <a:ln w="12700">
            <a:solidFill>
              <a:srgbClr val="245B85"/>
            </a:solidFill>
          </a:ln>
        </p:spPr>
      </p:sp>
      <p:sp>
        <p:nvSpPr>
          <p:cNvPr id="27" name="Text 27"/>
          <p:cNvSpPr/>
          <p:nvPr/>
        </p:nvSpPr>
        <p:spPr>
          <a:xfrm>
            <a:off x="2463800" y="5359400"/>
            <a:ext cx="73025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900" b="1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Depot 共享資料</a:t>
            </a:r>
            <a:endParaRPr lang="zh-TW" sz="1900"/>
          </a:p>
        </p:txBody>
      </p:sp>
      <p:sp>
        <p:nvSpPr>
          <p:cNvPr id="28" name="Text 28"/>
          <p:cNvSpPr/>
          <p:nvPr/>
        </p:nvSpPr>
        <p:spPr>
          <a:xfrm>
            <a:off x="2463800" y="5816600"/>
            <a:ext cx="7302500" cy="254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原始響應、Record、親代與 run、評估榜、事件及協調狀態</a:t>
            </a:r>
            <a:endParaRPr lang="zh-TW" sz="1550"/>
          </a:p>
        </p:txBody>
      </p:sp>
      <p:cxnSp>
        <p:nvCxnSpPr>
          <p:cNvPr id="29" name="Connector 29"/>
          <p:cNvCxnSpPr/>
          <p:nvPr/>
        </p:nvCxnSpPr>
        <p:spPr>
          <a:xfrm>
            <a:off x="6108700" y="4699000"/>
            <a:ext cx="0" cy="520700"/>
          </a:xfrm>
          <a:prstGeom prst="line">
            <a:avLst/>
          </a:prstGeom>
          <a:ln w="19050">
            <a:solidFill>
              <a:srgbClr val="245B85"/>
            </a:solidFill>
            <a:tailEnd type="triangle" w="med" len="med"/>
          </a:ln>
        </p:spPr>
      </p:cxnSp>
      <p:cxnSp>
        <p:nvCxnSpPr>
          <p:cNvPr id="30" name="Connector 30"/>
          <p:cNvCxnSpPr/>
          <p:nvPr/>
        </p:nvCxnSpPr>
        <p:spPr>
          <a:xfrm flipH="1">
            <a:off x="1803400" y="5676900"/>
            <a:ext cx="482600" cy="0"/>
          </a:xfrm>
          <a:prstGeom prst="line">
            <a:avLst/>
          </a:prstGeom>
          <a:ln w="19050">
            <a:solidFill>
              <a:srgbClr val="245B85"/>
            </a:solidFill>
          </a:ln>
        </p:spPr>
      </p:cxnSp>
      <p:cxnSp>
        <p:nvCxnSpPr>
          <p:cNvPr id="31" name="Connector 31"/>
          <p:cNvCxnSpPr/>
          <p:nvPr/>
        </p:nvCxnSpPr>
        <p:spPr>
          <a:xfrm flipV="1">
            <a:off x="1803400" y="4584700"/>
            <a:ext cx="0" cy="1092200"/>
          </a:xfrm>
          <a:prstGeom prst="line">
            <a:avLst/>
          </a:prstGeom>
          <a:ln w="19050">
            <a:solidFill>
              <a:srgbClr val="245B85"/>
            </a:solidFill>
            <a:tailEnd type="triangle" w="med" len="med"/>
          </a:ln>
        </p:spPr>
      </p:cxnSp>
      <p:sp>
        <p:nvSpPr>
          <p:cNvPr id="32" name="Text 32"/>
          <p:cNvSpPr/>
          <p:nvPr/>
        </p:nvSpPr>
        <p:spPr>
          <a:xfrm>
            <a:off x="609600" y="5054600"/>
            <a:ext cx="114300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3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讀取歷史</a:t>
            </a:r>
            <a:endParaRPr lang="zh-TW"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3400" y="330200"/>
            <a:ext cx="11125200" cy="584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3000" b="1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一筆候選設計的資料流</a:t>
            </a:r>
            <a:endParaRPr lang="zh-TW" sz="3000"/>
          </a:p>
        </p:txBody>
      </p:sp>
      <p:cxnSp>
        <p:nvCxnSpPr>
          <p:cNvPr id="3" name="Connector 3"/>
          <p:cNvCxnSpPr/>
          <p:nvPr/>
        </p:nvCxnSpPr>
        <p:spPr>
          <a:xfrm>
            <a:off x="533400" y="1041400"/>
            <a:ext cx="11125200" cy="0"/>
          </a:xfrm>
          <a:prstGeom prst="line">
            <a:avLst/>
          </a:prstGeom>
          <a:ln w="10160">
            <a:solidFill>
              <a:srgbClr val="CCD8E2"/>
            </a:solidFill>
          </a:ln>
        </p:spPr>
      </p:cxnSp>
      <p:cxnSp>
        <p:nvCxnSpPr>
          <p:cNvPr id="4" name="Connector 4"/>
          <p:cNvCxnSpPr/>
          <p:nvPr/>
        </p:nvCxnSpPr>
        <p:spPr>
          <a:xfrm>
            <a:off x="533400" y="1041400"/>
            <a:ext cx="1244600" cy="0"/>
          </a:xfrm>
          <a:prstGeom prst="line">
            <a:avLst/>
          </a:prstGeom>
          <a:ln w="30480">
            <a:solidFill>
              <a:srgbClr val="245B85"/>
            </a:solidFill>
          </a:ln>
        </p:spPr>
      </p:cxnSp>
      <p:sp>
        <p:nvSpPr>
          <p:cNvPr id="5" name="Text 5"/>
          <p:cNvSpPr/>
          <p:nvPr/>
        </p:nvSpPr>
        <p:spPr>
          <a:xfrm>
            <a:off x="11214100" y="6451600"/>
            <a:ext cx="4318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altLang="zh-TW" sz="11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  <a:endParaRPr lang="zh-TW" sz="1100"/>
          </a:p>
        </p:txBody>
      </p:sp>
      <p:sp>
        <p:nvSpPr>
          <p:cNvPr id="6" name="Text 6"/>
          <p:cNvSpPr/>
          <p:nvPr/>
        </p:nvSpPr>
        <p:spPr>
          <a:xfrm>
            <a:off x="533400" y="6388100"/>
            <a:ext cx="104394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15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Client 的 completed 表示 runtime 已收件入庫。worker 求解完成是其中一個階段。</a:t>
            </a:r>
            <a:endParaRPr lang="zh-TW" sz="1150"/>
          </a:p>
        </p:txBody>
      </p:sp>
      <p:sp>
        <p:nvSpPr>
          <p:cNvPr id="7" name="Component 7"/>
          <p:cNvSpPr/>
          <p:nvPr/>
        </p:nvSpPr>
        <p:spPr>
          <a:xfrm>
            <a:off x="533400" y="1574800"/>
            <a:ext cx="3403600" cy="1460500"/>
          </a:xfrm>
          <a:prstGeom prst="rect">
            <a:avLst/>
          </a:prstGeom>
          <a:solidFill>
            <a:srgbClr val="EEF4F8"/>
          </a:solidFill>
          <a:ln w="12700">
            <a:solidFill>
              <a:srgbClr val="245B85"/>
            </a:solidFill>
          </a:ln>
        </p:spPr>
      </p:sp>
      <p:sp>
        <p:nvSpPr>
          <p:cNvPr id="8" name="Text 8"/>
          <p:cNvSpPr/>
          <p:nvPr/>
        </p:nvSpPr>
        <p:spPr>
          <a:xfrm>
            <a:off x="711200" y="1714500"/>
            <a:ext cx="30480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900" b="1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1 送件</a:t>
            </a:r>
            <a:endParaRPr lang="zh-TW" sz="1900"/>
          </a:p>
        </p:txBody>
      </p:sp>
      <p:sp>
        <p:nvSpPr>
          <p:cNvPr id="9" name="Text 9"/>
          <p:cNvSpPr/>
          <p:nvPr/>
        </p:nvSpPr>
        <p:spPr>
          <a:xfrm>
            <a:off x="711200" y="2171700"/>
            <a:ext cx="3048000" cy="800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算法送出 pattern</a:t>
            </a:r>
            <a:endParaRPr lang="zh-TW" sz="1550"/>
          </a:p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附 run_id、parent</a:t>
            </a:r>
            <a:endParaRPr lang="zh-TW" sz="1550"/>
          </a:p>
        </p:txBody>
      </p:sp>
      <p:cxnSp>
        <p:nvCxnSpPr>
          <p:cNvPr id="10" name="Connector 10"/>
          <p:cNvCxnSpPr/>
          <p:nvPr/>
        </p:nvCxnSpPr>
        <p:spPr>
          <a:xfrm>
            <a:off x="3937000" y="2311400"/>
            <a:ext cx="444500" cy="0"/>
          </a:xfrm>
          <a:prstGeom prst="line">
            <a:avLst/>
          </a:prstGeom>
          <a:ln w="19050">
            <a:solidFill>
              <a:srgbClr val="245B85"/>
            </a:solidFill>
            <a:tailEnd type="triangle" w="med" len="med"/>
          </a:ln>
        </p:spPr>
      </p:cxnSp>
      <p:sp>
        <p:nvSpPr>
          <p:cNvPr id="11" name="Component 11"/>
          <p:cNvSpPr/>
          <p:nvPr/>
        </p:nvSpPr>
        <p:spPr>
          <a:xfrm>
            <a:off x="4381500" y="1574800"/>
            <a:ext cx="3403600" cy="1460500"/>
          </a:xfrm>
          <a:prstGeom prst="rect">
            <a:avLst/>
          </a:prstGeom>
          <a:solidFill>
            <a:srgbClr val="EEF4F8"/>
          </a:solidFill>
          <a:ln w="12700">
            <a:solidFill>
              <a:srgbClr val="245B85"/>
            </a:solidFill>
          </a:ln>
        </p:spPr>
      </p:sp>
      <p:sp>
        <p:nvSpPr>
          <p:cNvPr id="12" name="Text 12"/>
          <p:cNvSpPr/>
          <p:nvPr/>
        </p:nvSpPr>
        <p:spPr>
          <a:xfrm>
            <a:off x="4559300" y="1714500"/>
            <a:ext cx="30480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900" b="1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2 驗證與去重</a:t>
            </a:r>
            <a:endParaRPr lang="zh-TW" sz="1900"/>
          </a:p>
        </p:txBody>
      </p:sp>
      <p:sp>
        <p:nvSpPr>
          <p:cNvPr id="13" name="Text 13"/>
          <p:cNvSpPr/>
          <p:nvPr/>
        </p:nvSpPr>
        <p:spPr>
          <a:xfrm>
            <a:off x="4559300" y="2171700"/>
            <a:ext cx="3048000" cy="800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檢查形狀、固定區</a:t>
            </a:r>
            <a:endParaRPr lang="zh-TW" sz="1550"/>
          </a:p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共用既有量測</a:t>
            </a:r>
            <a:endParaRPr lang="zh-TW" sz="1550"/>
          </a:p>
        </p:txBody>
      </p:sp>
      <p:cxnSp>
        <p:nvCxnSpPr>
          <p:cNvPr id="14" name="Connector 14"/>
          <p:cNvCxnSpPr/>
          <p:nvPr/>
        </p:nvCxnSpPr>
        <p:spPr>
          <a:xfrm>
            <a:off x="7785100" y="2311400"/>
            <a:ext cx="444500" cy="0"/>
          </a:xfrm>
          <a:prstGeom prst="line">
            <a:avLst/>
          </a:prstGeom>
          <a:ln w="19050">
            <a:solidFill>
              <a:srgbClr val="245B85"/>
            </a:solidFill>
            <a:tailEnd type="triangle" w="med" len="med"/>
          </a:ln>
        </p:spPr>
      </p:cxnSp>
      <p:sp>
        <p:nvSpPr>
          <p:cNvPr id="15" name="Component 15"/>
          <p:cNvSpPr/>
          <p:nvPr/>
        </p:nvSpPr>
        <p:spPr>
          <a:xfrm>
            <a:off x="8229600" y="1574800"/>
            <a:ext cx="3403600" cy="1460500"/>
          </a:xfrm>
          <a:prstGeom prst="rect">
            <a:avLst/>
          </a:prstGeom>
          <a:solidFill>
            <a:srgbClr val="EEF4F8"/>
          </a:solidFill>
          <a:ln w="12700">
            <a:solidFill>
              <a:srgbClr val="245B85"/>
            </a:solidFill>
          </a:ln>
        </p:spPr>
      </p:sp>
      <p:sp>
        <p:nvSpPr>
          <p:cNvPr id="16" name="Text 16"/>
          <p:cNvSpPr/>
          <p:nvPr/>
        </p:nvSpPr>
        <p:spPr>
          <a:xfrm>
            <a:off x="8407400" y="1714500"/>
            <a:ext cx="30480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900" b="1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3 排程與認領</a:t>
            </a:r>
            <a:endParaRPr lang="zh-TW" sz="1900"/>
          </a:p>
        </p:txBody>
      </p:sp>
      <p:sp>
        <p:nvSpPr>
          <p:cNvPr id="17" name="Text 17"/>
          <p:cNvSpPr/>
          <p:nvPr/>
        </p:nvSpPr>
        <p:spPr>
          <a:xfrm>
            <a:off x="8407400" y="2171700"/>
            <a:ext cx="3048000" cy="800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排序後派入 Queue</a:t>
            </a:r>
            <a:endParaRPr lang="zh-TW" sz="1550"/>
          </a:p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worker 取得 claim</a:t>
            </a:r>
            <a:endParaRPr lang="zh-TW" sz="1550"/>
          </a:p>
        </p:txBody>
      </p:sp>
      <p:sp>
        <p:nvSpPr>
          <p:cNvPr id="18" name="Component 18"/>
          <p:cNvSpPr/>
          <p:nvPr/>
        </p:nvSpPr>
        <p:spPr>
          <a:xfrm>
            <a:off x="533400" y="4013200"/>
            <a:ext cx="3403600" cy="1460500"/>
          </a:xfrm>
          <a:prstGeom prst="rect">
            <a:avLst/>
          </a:prstGeom>
          <a:solidFill>
            <a:srgbClr val="EEF4F8"/>
          </a:solidFill>
          <a:ln w="12700">
            <a:solidFill>
              <a:srgbClr val="245B85"/>
            </a:solidFill>
          </a:ln>
        </p:spPr>
      </p:sp>
      <p:sp>
        <p:nvSpPr>
          <p:cNvPr id="19" name="Text 19"/>
          <p:cNvSpPr/>
          <p:nvPr/>
        </p:nvSpPr>
        <p:spPr>
          <a:xfrm>
            <a:off x="711200" y="4152900"/>
            <a:ext cx="30480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900" b="1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4 HFSS 求解</a:t>
            </a:r>
            <a:endParaRPr lang="zh-TW" sz="1900"/>
          </a:p>
        </p:txBody>
      </p:sp>
      <p:sp>
        <p:nvSpPr>
          <p:cNvPr id="20" name="Text 20"/>
          <p:cNvSpPr/>
          <p:nvPr/>
        </p:nvSpPr>
        <p:spPr>
          <a:xfrm>
            <a:off x="711200" y="4610100"/>
            <a:ext cx="3048000" cy="800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核對 profile_hash</a:t>
            </a:r>
            <a:endParaRPr lang="zh-TW" sz="1550"/>
          </a:p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產生原始 response</a:t>
            </a:r>
            <a:endParaRPr lang="zh-TW" sz="1550"/>
          </a:p>
        </p:txBody>
      </p:sp>
      <p:cxnSp>
        <p:nvCxnSpPr>
          <p:cNvPr id="21" name="Connector 21"/>
          <p:cNvCxnSpPr/>
          <p:nvPr/>
        </p:nvCxnSpPr>
        <p:spPr>
          <a:xfrm>
            <a:off x="3937000" y="4749800"/>
            <a:ext cx="444500" cy="0"/>
          </a:xfrm>
          <a:prstGeom prst="line">
            <a:avLst/>
          </a:prstGeom>
          <a:ln w="19050">
            <a:solidFill>
              <a:srgbClr val="245B85"/>
            </a:solidFill>
            <a:tailEnd type="triangle" w="med" len="med"/>
          </a:ln>
        </p:spPr>
      </p:cxnSp>
      <p:sp>
        <p:nvSpPr>
          <p:cNvPr id="22" name="Component 22"/>
          <p:cNvSpPr/>
          <p:nvPr/>
        </p:nvSpPr>
        <p:spPr>
          <a:xfrm>
            <a:off x="4381500" y="4013200"/>
            <a:ext cx="3403600" cy="1460500"/>
          </a:xfrm>
          <a:prstGeom prst="rect">
            <a:avLst/>
          </a:prstGeom>
          <a:solidFill>
            <a:srgbClr val="EEF4F8"/>
          </a:solidFill>
          <a:ln w="12700">
            <a:solidFill>
              <a:srgbClr val="245B85"/>
            </a:solidFill>
          </a:ln>
        </p:spPr>
      </p:sp>
      <p:sp>
        <p:nvSpPr>
          <p:cNvPr id="23" name="Text 23"/>
          <p:cNvSpPr/>
          <p:nvPr/>
        </p:nvSpPr>
        <p:spPr>
          <a:xfrm>
            <a:off x="4559300" y="4152900"/>
            <a:ext cx="30480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900" b="1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5 收件與評估</a:t>
            </a:r>
            <a:endParaRPr lang="zh-TW" sz="1900"/>
          </a:p>
        </p:txBody>
      </p:sp>
      <p:sp>
        <p:nvSpPr>
          <p:cNvPr id="24" name="Text 24"/>
          <p:cNvSpPr/>
          <p:nvPr/>
        </p:nvSpPr>
        <p:spPr>
          <a:xfrm>
            <a:off x="4559300" y="4610100"/>
            <a:ext cx="3048000" cy="800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量測、score、Record</a:t>
            </a:r>
            <a:endParaRPr lang="zh-TW" sz="1550"/>
          </a:p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保存狀態與版本</a:t>
            </a:r>
            <a:endParaRPr lang="zh-TW" sz="1550"/>
          </a:p>
        </p:txBody>
      </p:sp>
      <p:cxnSp>
        <p:nvCxnSpPr>
          <p:cNvPr id="25" name="Connector 25"/>
          <p:cNvCxnSpPr/>
          <p:nvPr/>
        </p:nvCxnSpPr>
        <p:spPr>
          <a:xfrm>
            <a:off x="7785100" y="4749800"/>
            <a:ext cx="444500" cy="0"/>
          </a:xfrm>
          <a:prstGeom prst="line">
            <a:avLst/>
          </a:prstGeom>
          <a:ln w="19050">
            <a:solidFill>
              <a:srgbClr val="245B85"/>
            </a:solidFill>
            <a:tailEnd type="triangle" w="med" len="med"/>
          </a:ln>
        </p:spPr>
      </p:cxnSp>
      <p:sp>
        <p:nvSpPr>
          <p:cNvPr id="26" name="Component 26"/>
          <p:cNvSpPr/>
          <p:nvPr/>
        </p:nvSpPr>
        <p:spPr>
          <a:xfrm>
            <a:off x="8229600" y="4013200"/>
            <a:ext cx="3403600" cy="1460500"/>
          </a:xfrm>
          <a:prstGeom prst="rect">
            <a:avLst/>
          </a:prstGeom>
          <a:solidFill>
            <a:srgbClr val="EEF4F8"/>
          </a:solidFill>
          <a:ln w="12700">
            <a:solidFill>
              <a:srgbClr val="245B85"/>
            </a:solidFill>
          </a:ln>
        </p:spPr>
      </p:sp>
      <p:sp>
        <p:nvSpPr>
          <p:cNvPr id="27" name="Text 27"/>
          <p:cNvSpPr/>
          <p:nvPr/>
        </p:nvSpPr>
        <p:spPr>
          <a:xfrm>
            <a:off x="8407400" y="4152900"/>
            <a:ext cx="30480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900" b="1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6 回饋下一批</a:t>
            </a:r>
            <a:endParaRPr lang="zh-TW" sz="1900"/>
          </a:p>
        </p:txBody>
      </p:sp>
      <p:sp>
        <p:nvSpPr>
          <p:cNvPr id="28" name="Text 28"/>
          <p:cNvSpPr/>
          <p:nvPr/>
        </p:nvSpPr>
        <p:spPr>
          <a:xfrm>
            <a:off x="8407400" y="4610100"/>
            <a:ext cx="3048000" cy="800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算法讀取新結果</a:t>
            </a:r>
            <a:endParaRPr lang="zh-TW" sz="1550"/>
          </a:p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更新下一輪候選</a:t>
            </a:r>
            <a:endParaRPr lang="zh-TW" sz="1550"/>
          </a:p>
        </p:txBody>
      </p:sp>
      <p:cxnSp>
        <p:nvCxnSpPr>
          <p:cNvPr id="29" name="Connector 29"/>
          <p:cNvCxnSpPr/>
          <p:nvPr/>
        </p:nvCxnSpPr>
        <p:spPr>
          <a:xfrm>
            <a:off x="11607800" y="2298700"/>
            <a:ext cx="215900" cy="0"/>
          </a:xfrm>
          <a:prstGeom prst="line">
            <a:avLst/>
          </a:prstGeom>
          <a:ln w="19050">
            <a:solidFill>
              <a:srgbClr val="245B85"/>
            </a:solidFill>
          </a:ln>
        </p:spPr>
      </p:cxnSp>
      <p:cxnSp>
        <p:nvCxnSpPr>
          <p:cNvPr id="30" name="Connector 30"/>
          <p:cNvCxnSpPr/>
          <p:nvPr/>
        </p:nvCxnSpPr>
        <p:spPr>
          <a:xfrm>
            <a:off x="11823700" y="2298700"/>
            <a:ext cx="0" cy="1308100"/>
          </a:xfrm>
          <a:prstGeom prst="line">
            <a:avLst/>
          </a:prstGeom>
          <a:ln w="19050">
            <a:solidFill>
              <a:srgbClr val="245B85"/>
            </a:solidFill>
          </a:ln>
        </p:spPr>
      </p:cxnSp>
      <p:cxnSp>
        <p:nvCxnSpPr>
          <p:cNvPr id="31" name="Connector 31"/>
          <p:cNvCxnSpPr/>
          <p:nvPr/>
        </p:nvCxnSpPr>
        <p:spPr>
          <a:xfrm flipH="1">
            <a:off x="342900" y="3606800"/>
            <a:ext cx="11480800" cy="0"/>
          </a:xfrm>
          <a:prstGeom prst="line">
            <a:avLst/>
          </a:prstGeom>
          <a:ln w="19050">
            <a:solidFill>
              <a:srgbClr val="245B85"/>
            </a:solidFill>
          </a:ln>
        </p:spPr>
      </p:cxnSp>
      <p:cxnSp>
        <p:nvCxnSpPr>
          <p:cNvPr id="32" name="Connector 32"/>
          <p:cNvCxnSpPr/>
          <p:nvPr/>
        </p:nvCxnSpPr>
        <p:spPr>
          <a:xfrm>
            <a:off x="342900" y="3606800"/>
            <a:ext cx="0" cy="1143000"/>
          </a:xfrm>
          <a:prstGeom prst="line">
            <a:avLst/>
          </a:prstGeom>
          <a:ln w="19050">
            <a:solidFill>
              <a:srgbClr val="245B85"/>
            </a:solidFill>
          </a:ln>
        </p:spPr>
      </p:cxnSp>
      <p:cxnSp>
        <p:nvCxnSpPr>
          <p:cNvPr id="33" name="Connector 33"/>
          <p:cNvCxnSpPr/>
          <p:nvPr/>
        </p:nvCxnSpPr>
        <p:spPr>
          <a:xfrm>
            <a:off x="342900" y="4749800"/>
            <a:ext cx="190500" cy="0"/>
          </a:xfrm>
          <a:prstGeom prst="line">
            <a:avLst/>
          </a:prstGeom>
          <a:ln w="19050">
            <a:solidFill>
              <a:srgbClr val="245B85"/>
            </a:solidFill>
            <a:tailEnd type="triangle" w="med" len="med"/>
          </a:ln>
        </p:spPr>
      </p:cxnSp>
      <p:sp>
        <p:nvSpPr>
          <p:cNvPr id="34" name="Text 34"/>
          <p:cNvSpPr/>
          <p:nvPr/>
        </p:nvSpPr>
        <p:spPr>
          <a:xfrm>
            <a:off x="533400" y="5791200"/>
            <a:ext cx="110998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700" b="0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身分一路保留：pattern id、profile、run_id、parent、求解與程式版本。</a:t>
            </a:r>
            <a:endParaRPr lang="zh-TW"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3400" y="330200"/>
            <a:ext cx="11125200" cy="584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3000" b="1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模擬條件與評分規格分開</a:t>
            </a:r>
            <a:endParaRPr lang="zh-TW" sz="3000"/>
          </a:p>
        </p:txBody>
      </p:sp>
      <p:cxnSp>
        <p:nvCxnSpPr>
          <p:cNvPr id="3" name="Connector 3"/>
          <p:cNvCxnSpPr/>
          <p:nvPr/>
        </p:nvCxnSpPr>
        <p:spPr>
          <a:xfrm>
            <a:off x="533400" y="1041400"/>
            <a:ext cx="11125200" cy="0"/>
          </a:xfrm>
          <a:prstGeom prst="line">
            <a:avLst/>
          </a:prstGeom>
          <a:ln w="10160">
            <a:solidFill>
              <a:srgbClr val="CCD8E2"/>
            </a:solidFill>
          </a:ln>
        </p:spPr>
      </p:cxnSp>
      <p:cxnSp>
        <p:nvCxnSpPr>
          <p:cNvPr id="4" name="Connector 4"/>
          <p:cNvCxnSpPr/>
          <p:nvPr/>
        </p:nvCxnSpPr>
        <p:spPr>
          <a:xfrm>
            <a:off x="533400" y="1041400"/>
            <a:ext cx="1244600" cy="0"/>
          </a:xfrm>
          <a:prstGeom prst="line">
            <a:avLst/>
          </a:prstGeom>
          <a:ln w="30480">
            <a:solidFill>
              <a:srgbClr val="245B85"/>
            </a:solidFill>
          </a:ln>
        </p:spPr>
      </p:cxnSp>
      <p:sp>
        <p:nvSpPr>
          <p:cNvPr id="5" name="Text 5"/>
          <p:cNvSpPr/>
          <p:nvPr/>
        </p:nvSpPr>
        <p:spPr>
          <a:xfrm>
            <a:off x="11214100" y="6451600"/>
            <a:ext cx="4318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altLang="zh-TW" sz="11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  <a:endParaRPr lang="zh-TW" sz="1100"/>
          </a:p>
        </p:txBody>
      </p:sp>
      <p:sp>
        <p:nvSpPr>
          <p:cNvPr id="6" name="Text 6"/>
          <p:cNvSpPr/>
          <p:nvPr/>
        </p:nvSpPr>
        <p:spPr>
          <a:xfrm>
            <a:off x="533400" y="6388100"/>
            <a:ext cx="104394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15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raw response 保留，可由明確版本的量測與規格重算，避免混用不同條件的分數。</a:t>
            </a:r>
            <a:endParaRPr lang="zh-TW" sz="1150"/>
          </a:p>
        </p:txBody>
      </p:sp>
      <p:sp>
        <p:nvSpPr>
          <p:cNvPr id="7" name="Component 7"/>
          <p:cNvSpPr/>
          <p:nvPr/>
        </p:nvSpPr>
        <p:spPr>
          <a:xfrm>
            <a:off x="533400" y="1625600"/>
            <a:ext cx="5143500" cy="1511300"/>
          </a:xfrm>
          <a:prstGeom prst="rect">
            <a:avLst/>
          </a:prstGeom>
          <a:solidFill>
            <a:srgbClr val="EEF4F8"/>
          </a:solidFill>
          <a:ln w="12700">
            <a:solidFill>
              <a:srgbClr val="245B85"/>
            </a:solidFill>
          </a:ln>
        </p:spPr>
      </p:sp>
      <p:sp>
        <p:nvSpPr>
          <p:cNvPr id="8" name="Text 8"/>
          <p:cNvSpPr/>
          <p:nvPr/>
        </p:nvSpPr>
        <p:spPr>
          <a:xfrm>
            <a:off x="711200" y="1765300"/>
            <a:ext cx="47879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900" b="1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Profile：怎麼模擬</a:t>
            </a:r>
            <a:endParaRPr lang="zh-TW" sz="1900"/>
          </a:p>
        </p:txBody>
      </p:sp>
      <p:sp>
        <p:nvSpPr>
          <p:cNvPr id="9" name="Text 9"/>
          <p:cNvSpPr/>
          <p:nvPr/>
        </p:nvSpPr>
        <p:spPr>
          <a:xfrm>
            <a:off x="711200" y="2222500"/>
            <a:ext cx="4787900" cy="8509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求解器、幾何版本、橋寬</a:t>
            </a:r>
            <a:endParaRPr lang="zh-TW" sz="1550"/>
          </a:p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掃頻、網格與量測器版本</a:t>
            </a:r>
            <a:endParaRPr lang="zh-TW" sz="1550"/>
          </a:p>
        </p:txBody>
      </p:sp>
      <p:sp>
        <p:nvSpPr>
          <p:cNvPr id="10" name="Component 10"/>
          <p:cNvSpPr/>
          <p:nvPr/>
        </p:nvSpPr>
        <p:spPr>
          <a:xfrm>
            <a:off x="6515100" y="1625600"/>
            <a:ext cx="5143500" cy="1511300"/>
          </a:xfrm>
          <a:prstGeom prst="rect">
            <a:avLst/>
          </a:prstGeom>
          <a:solidFill>
            <a:srgbClr val="EEF4F8"/>
          </a:solidFill>
          <a:ln w="12700">
            <a:solidFill>
              <a:srgbClr val="087F83"/>
            </a:solidFill>
          </a:ln>
        </p:spPr>
      </p:sp>
      <p:sp>
        <p:nvSpPr>
          <p:cNvPr id="11" name="Text 11"/>
          <p:cNvSpPr/>
          <p:nvPr/>
        </p:nvSpPr>
        <p:spPr>
          <a:xfrm>
            <a:off x="6692900" y="1765300"/>
            <a:ext cx="47879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900" b="1">
                <a:solidFill>
                  <a:srgbClr val="087F83"/>
                </a:solidFill>
                <a:latin typeface="Microsoft JhengHei"/>
                <a:ea typeface="Microsoft JhengHei"/>
                <a:cs typeface="Microsoft JhengHei"/>
              </a:rPr>
              <a:t>Spec：怎麼判斷好壞</a:t>
            </a:r>
            <a:endParaRPr lang="zh-TW" sz="1900"/>
          </a:p>
        </p:txBody>
      </p:sp>
      <p:sp>
        <p:nvSpPr>
          <p:cNvPr id="12" name="Text 12"/>
          <p:cNvSpPr/>
          <p:nvPr/>
        </p:nvSpPr>
        <p:spPr>
          <a:xfrm>
            <a:off x="6692900" y="2222500"/>
            <a:ext cx="4787900" cy="8509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規格軸、門檻與聚合方式</a:t>
            </a:r>
            <a:endParaRPr lang="zh-TW" sz="1550"/>
          </a:p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例如最差餘裕 min(m₁, …, mₖ)</a:t>
            </a:r>
            <a:endParaRPr lang="zh-TW" sz="1550"/>
          </a:p>
        </p:txBody>
      </p:sp>
      <p:sp>
        <p:nvSpPr>
          <p:cNvPr id="13" name="Component 13"/>
          <p:cNvSpPr/>
          <p:nvPr/>
        </p:nvSpPr>
        <p:spPr>
          <a:xfrm>
            <a:off x="533400" y="4216400"/>
            <a:ext cx="3238500" cy="1130300"/>
          </a:xfrm>
          <a:prstGeom prst="rect">
            <a:avLst/>
          </a:prstGeom>
          <a:solidFill>
            <a:srgbClr val="EEF4F8"/>
          </a:solidFill>
          <a:ln w="12700">
            <a:solidFill>
              <a:srgbClr val="245B85"/>
            </a:solidFill>
          </a:ln>
        </p:spPr>
      </p:sp>
      <p:sp>
        <p:nvSpPr>
          <p:cNvPr id="14" name="Text 14"/>
          <p:cNvSpPr/>
          <p:nvPr/>
        </p:nvSpPr>
        <p:spPr>
          <a:xfrm>
            <a:off x="711200" y="4356100"/>
            <a:ext cx="28829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900" b="1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原始響應</a:t>
            </a:r>
            <a:endParaRPr lang="zh-TW" sz="1900"/>
          </a:p>
        </p:txBody>
      </p:sp>
      <p:sp>
        <p:nvSpPr>
          <p:cNvPr id="15" name="Text 15"/>
          <p:cNvSpPr/>
          <p:nvPr/>
        </p:nvSpPr>
        <p:spPr>
          <a:xfrm>
            <a:off x="711200" y="4813300"/>
            <a:ext cx="2882900" cy="4699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S11、S21、S22 等</a:t>
            </a:r>
            <a:endParaRPr lang="zh-TW" sz="1550"/>
          </a:p>
        </p:txBody>
      </p:sp>
      <p:cxnSp>
        <p:nvCxnSpPr>
          <p:cNvPr id="16" name="Connector 16"/>
          <p:cNvCxnSpPr/>
          <p:nvPr/>
        </p:nvCxnSpPr>
        <p:spPr>
          <a:xfrm>
            <a:off x="3771900" y="4775200"/>
            <a:ext cx="698500" cy="0"/>
          </a:xfrm>
          <a:prstGeom prst="line">
            <a:avLst/>
          </a:prstGeom>
          <a:ln w="19050">
            <a:solidFill>
              <a:srgbClr val="245B85"/>
            </a:solidFill>
            <a:tailEnd type="triangle" w="med" len="med"/>
          </a:ln>
        </p:spPr>
      </p:cxnSp>
      <p:sp>
        <p:nvSpPr>
          <p:cNvPr id="17" name="Component 17"/>
          <p:cNvSpPr/>
          <p:nvPr/>
        </p:nvSpPr>
        <p:spPr>
          <a:xfrm>
            <a:off x="4470400" y="4216400"/>
            <a:ext cx="3238500" cy="1130300"/>
          </a:xfrm>
          <a:prstGeom prst="rect">
            <a:avLst/>
          </a:prstGeom>
          <a:solidFill>
            <a:srgbClr val="EEF4F8"/>
          </a:solidFill>
          <a:ln w="12700">
            <a:solidFill>
              <a:srgbClr val="245B85"/>
            </a:solidFill>
          </a:ln>
        </p:spPr>
      </p:sp>
      <p:sp>
        <p:nvSpPr>
          <p:cNvPr id="18" name="Text 18"/>
          <p:cNvSpPr/>
          <p:nvPr/>
        </p:nvSpPr>
        <p:spPr>
          <a:xfrm>
            <a:off x="4648200" y="4356100"/>
            <a:ext cx="28829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900" b="1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量測量</a:t>
            </a:r>
            <a:endParaRPr lang="zh-TW" sz="1900"/>
          </a:p>
        </p:txBody>
      </p:sp>
      <p:sp>
        <p:nvSpPr>
          <p:cNvPr id="19" name="Text 19"/>
          <p:cNvSpPr/>
          <p:nvPr/>
        </p:nvSpPr>
        <p:spPr>
          <a:xfrm>
            <a:off x="4648200" y="4813300"/>
            <a:ext cx="2882900" cy="4699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各頻帶與規格軸的 margin</a:t>
            </a:r>
            <a:endParaRPr lang="zh-TW" sz="1550"/>
          </a:p>
        </p:txBody>
      </p:sp>
      <p:cxnSp>
        <p:nvCxnSpPr>
          <p:cNvPr id="20" name="Connector 20"/>
          <p:cNvCxnSpPr/>
          <p:nvPr/>
        </p:nvCxnSpPr>
        <p:spPr>
          <a:xfrm>
            <a:off x="7708900" y="4775200"/>
            <a:ext cx="698500" cy="0"/>
          </a:xfrm>
          <a:prstGeom prst="line">
            <a:avLst/>
          </a:prstGeom>
          <a:ln w="19050">
            <a:solidFill>
              <a:srgbClr val="245B85"/>
            </a:solidFill>
            <a:tailEnd type="triangle" w="med" len="med"/>
          </a:ln>
        </p:spPr>
      </p:cxnSp>
      <p:sp>
        <p:nvSpPr>
          <p:cNvPr id="21" name="Component 21"/>
          <p:cNvSpPr/>
          <p:nvPr/>
        </p:nvSpPr>
        <p:spPr>
          <a:xfrm>
            <a:off x="8407400" y="4216400"/>
            <a:ext cx="3238500" cy="1130300"/>
          </a:xfrm>
          <a:prstGeom prst="rect">
            <a:avLst/>
          </a:prstGeom>
          <a:solidFill>
            <a:srgbClr val="EEF4F8"/>
          </a:solidFill>
          <a:ln w="12700">
            <a:solidFill>
              <a:srgbClr val="087F83"/>
            </a:solidFill>
          </a:ln>
        </p:spPr>
      </p:sp>
      <p:sp>
        <p:nvSpPr>
          <p:cNvPr id="22" name="Text 22"/>
          <p:cNvSpPr/>
          <p:nvPr/>
        </p:nvSpPr>
        <p:spPr>
          <a:xfrm>
            <a:off x="8585200" y="4356100"/>
            <a:ext cx="28829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900" b="1">
                <a:solidFill>
                  <a:srgbClr val="087F83"/>
                </a:solidFill>
                <a:latin typeface="Microsoft JhengHei"/>
                <a:ea typeface="Microsoft JhengHei"/>
                <a:cs typeface="Microsoft JhengHei"/>
              </a:rPr>
              <a:t>評估結果</a:t>
            </a:r>
            <a:endParaRPr lang="zh-TW" sz="1900"/>
          </a:p>
        </p:txBody>
      </p:sp>
      <p:sp>
        <p:nvSpPr>
          <p:cNvPr id="23" name="Text 23"/>
          <p:cNvSpPr/>
          <p:nvPr/>
        </p:nvSpPr>
        <p:spPr>
          <a:xfrm>
            <a:off x="8585200" y="4813300"/>
            <a:ext cx="2882900" cy="4699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gate、score、排名</a:t>
            </a:r>
            <a:endParaRPr lang="zh-TW" sz="1550"/>
          </a:p>
        </p:txBody>
      </p:sp>
      <p:cxnSp>
        <p:nvCxnSpPr>
          <p:cNvPr id="24" name="Connector 24"/>
          <p:cNvCxnSpPr/>
          <p:nvPr/>
        </p:nvCxnSpPr>
        <p:spPr>
          <a:xfrm>
            <a:off x="3098800" y="3136900"/>
            <a:ext cx="0" cy="431800"/>
          </a:xfrm>
          <a:prstGeom prst="line">
            <a:avLst/>
          </a:prstGeom>
          <a:ln w="19050">
            <a:solidFill>
              <a:srgbClr val="245B85"/>
            </a:solidFill>
          </a:ln>
        </p:spPr>
      </p:cxnSp>
      <p:cxnSp>
        <p:nvCxnSpPr>
          <p:cNvPr id="25" name="Connector 25"/>
          <p:cNvCxnSpPr/>
          <p:nvPr/>
        </p:nvCxnSpPr>
        <p:spPr>
          <a:xfrm flipH="1">
            <a:off x="2159000" y="3568700"/>
            <a:ext cx="939800" cy="0"/>
          </a:xfrm>
          <a:prstGeom prst="line">
            <a:avLst/>
          </a:prstGeom>
          <a:ln w="19050">
            <a:solidFill>
              <a:srgbClr val="245B85"/>
            </a:solidFill>
          </a:ln>
        </p:spPr>
      </p:cxnSp>
      <p:cxnSp>
        <p:nvCxnSpPr>
          <p:cNvPr id="26" name="Connector 26"/>
          <p:cNvCxnSpPr/>
          <p:nvPr/>
        </p:nvCxnSpPr>
        <p:spPr>
          <a:xfrm>
            <a:off x="2159000" y="3568700"/>
            <a:ext cx="0" cy="647700"/>
          </a:xfrm>
          <a:prstGeom prst="line">
            <a:avLst/>
          </a:prstGeom>
          <a:ln w="19050">
            <a:solidFill>
              <a:srgbClr val="245B85"/>
            </a:solidFill>
            <a:tailEnd type="triangle" w="med" len="med"/>
          </a:ln>
        </p:spPr>
      </p:cxnSp>
      <p:cxnSp>
        <p:nvCxnSpPr>
          <p:cNvPr id="27" name="Connector 27"/>
          <p:cNvCxnSpPr/>
          <p:nvPr/>
        </p:nvCxnSpPr>
        <p:spPr>
          <a:xfrm>
            <a:off x="9080500" y="3136900"/>
            <a:ext cx="0" cy="431800"/>
          </a:xfrm>
          <a:prstGeom prst="line">
            <a:avLst/>
          </a:prstGeom>
          <a:ln w="19050">
            <a:solidFill>
              <a:srgbClr val="087F83"/>
            </a:solidFill>
          </a:ln>
        </p:spPr>
      </p:cxnSp>
      <p:cxnSp>
        <p:nvCxnSpPr>
          <p:cNvPr id="28" name="Connector 28"/>
          <p:cNvCxnSpPr/>
          <p:nvPr/>
        </p:nvCxnSpPr>
        <p:spPr>
          <a:xfrm>
            <a:off x="9080500" y="3568700"/>
            <a:ext cx="952500" cy="0"/>
          </a:xfrm>
          <a:prstGeom prst="line">
            <a:avLst/>
          </a:prstGeom>
          <a:ln w="19050">
            <a:solidFill>
              <a:srgbClr val="087F83"/>
            </a:solidFill>
          </a:ln>
        </p:spPr>
      </p:cxnSp>
      <p:cxnSp>
        <p:nvCxnSpPr>
          <p:cNvPr id="29" name="Connector 29"/>
          <p:cNvCxnSpPr/>
          <p:nvPr/>
        </p:nvCxnSpPr>
        <p:spPr>
          <a:xfrm>
            <a:off x="10033000" y="3568700"/>
            <a:ext cx="0" cy="647700"/>
          </a:xfrm>
          <a:prstGeom prst="line">
            <a:avLst/>
          </a:prstGeom>
          <a:ln w="19050">
            <a:solidFill>
              <a:srgbClr val="087F83"/>
            </a:solidFill>
            <a:tailEnd type="triangle" w="med" len="med"/>
          </a:ln>
        </p:spPr>
      </p:cxnSp>
      <p:sp>
        <p:nvSpPr>
          <p:cNvPr id="30" name="Text 30"/>
          <p:cNvSpPr/>
          <p:nvPr/>
        </p:nvSpPr>
        <p:spPr>
          <a:xfrm>
            <a:off x="533400" y="5765800"/>
            <a:ext cx="10972800" cy="533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改幾何或求解條件需新 Profile。改評分規則需新 Spec，原始模擬資料持續保留。</a:t>
            </a:r>
            <a:endParaRPr lang="zh-TW"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3400" y="330200"/>
            <a:ext cx="11125200" cy="584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3000" b="1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AI 外層與 harness 接口</a:t>
            </a:r>
            <a:endParaRPr lang="zh-TW" sz="3000"/>
          </a:p>
        </p:txBody>
      </p:sp>
      <p:cxnSp>
        <p:nvCxnSpPr>
          <p:cNvPr id="3" name="Connector 3"/>
          <p:cNvCxnSpPr/>
          <p:nvPr/>
        </p:nvCxnSpPr>
        <p:spPr>
          <a:xfrm>
            <a:off x="533400" y="1041400"/>
            <a:ext cx="11125200" cy="0"/>
          </a:xfrm>
          <a:prstGeom prst="line">
            <a:avLst/>
          </a:prstGeom>
          <a:ln w="10160">
            <a:solidFill>
              <a:srgbClr val="CCD8E2"/>
            </a:solidFill>
          </a:ln>
        </p:spPr>
      </p:cxnSp>
      <p:cxnSp>
        <p:nvCxnSpPr>
          <p:cNvPr id="4" name="Connector 4"/>
          <p:cNvCxnSpPr/>
          <p:nvPr/>
        </p:nvCxnSpPr>
        <p:spPr>
          <a:xfrm>
            <a:off x="533400" y="1041400"/>
            <a:ext cx="1244600" cy="0"/>
          </a:xfrm>
          <a:prstGeom prst="line">
            <a:avLst/>
          </a:prstGeom>
          <a:ln w="30480">
            <a:solidFill>
              <a:srgbClr val="245B85"/>
            </a:solidFill>
          </a:ln>
        </p:spPr>
      </p:cxnSp>
      <p:sp>
        <p:nvSpPr>
          <p:cNvPr id="5" name="Text 5"/>
          <p:cNvSpPr/>
          <p:nvPr/>
        </p:nvSpPr>
        <p:spPr>
          <a:xfrm>
            <a:off x="11214100" y="6451600"/>
            <a:ext cx="4318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1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  <a:endParaRPr lang="zh-TW" sz="1100"/>
          </a:p>
        </p:txBody>
      </p:sp>
      <p:sp>
        <p:nvSpPr>
          <p:cNvPr id="7" name="Text 7"/>
          <p:cNvSpPr/>
          <p:nvPr/>
        </p:nvSpPr>
        <p:spPr>
          <a:xfrm>
            <a:off x="533400" y="1549400"/>
            <a:ext cx="3175000" cy="4445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2300" b="1">
                <a:solidFill>
                  <a:srgbClr val="087F83"/>
                </a:solidFill>
                <a:latin typeface="Microsoft JhengHei"/>
                <a:ea typeface="Microsoft JhengHei"/>
                <a:cs typeface="Microsoft JhengHei"/>
              </a:rPr>
              <a:t>Pi（開源）</a:t>
            </a:r>
            <a:endParaRPr lang="zh-TW" sz="2300"/>
          </a:p>
        </p:txBody>
      </p:sp>
      <p:sp>
        <p:nvSpPr>
          <p:cNvPr id="8" name="Text 8"/>
          <p:cNvSpPr/>
          <p:nvPr/>
        </p:nvSpPr>
        <p:spPr>
          <a:xfrm>
            <a:off x="533400" y="2082800"/>
            <a:ext cx="2921000" cy="3429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70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原生 extension</a:t>
            </a:r>
            <a:endParaRPr lang="zh-TW" sz="1700"/>
          </a:p>
        </p:txBody>
      </p:sp>
      <p:sp>
        <p:nvSpPr>
          <p:cNvPr id="9" name="Text 9"/>
          <p:cNvSpPr/>
          <p:nvPr/>
        </p:nvSpPr>
        <p:spPr>
          <a:xfrm>
            <a:off x="533400" y="3060700"/>
            <a:ext cx="3302000" cy="419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2100" b="1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Codex／Claude Code</a:t>
            </a:r>
            <a:endParaRPr lang="zh-TW" sz="2100"/>
          </a:p>
        </p:txBody>
      </p:sp>
      <p:sp>
        <p:nvSpPr>
          <p:cNvPr id="10" name="Text 10"/>
          <p:cNvSpPr/>
          <p:nvPr/>
        </p:nvSpPr>
        <p:spPr>
          <a:xfrm>
            <a:off x="533400" y="3581400"/>
            <a:ext cx="3251200" cy="393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70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共用 stdio MCP 配置</a:t>
            </a:r>
            <a:endParaRPr lang="zh-TW" sz="1700"/>
          </a:p>
        </p:txBody>
      </p:sp>
      <p:cxnSp>
        <p:nvCxnSpPr>
          <p:cNvPr id="11" name="Connector 11"/>
          <p:cNvCxnSpPr/>
          <p:nvPr/>
        </p:nvCxnSpPr>
        <p:spPr>
          <a:xfrm>
            <a:off x="3733800" y="2108200"/>
            <a:ext cx="711200" cy="0"/>
          </a:xfrm>
          <a:prstGeom prst="line">
            <a:avLst/>
          </a:prstGeom>
          <a:ln w="19050">
            <a:solidFill>
              <a:srgbClr val="087F83"/>
            </a:solidFill>
          </a:ln>
        </p:spPr>
      </p:cxnSp>
      <p:cxnSp>
        <p:nvCxnSpPr>
          <p:cNvPr id="12" name="Connector 12"/>
          <p:cNvCxnSpPr/>
          <p:nvPr/>
        </p:nvCxnSpPr>
        <p:spPr>
          <a:xfrm>
            <a:off x="3733800" y="3594100"/>
            <a:ext cx="711200" cy="0"/>
          </a:xfrm>
          <a:prstGeom prst="line">
            <a:avLst/>
          </a:prstGeom>
          <a:ln w="19050">
            <a:solidFill>
              <a:srgbClr val="245B85"/>
            </a:solidFill>
          </a:ln>
        </p:spPr>
      </p:cxnSp>
      <p:cxnSp>
        <p:nvCxnSpPr>
          <p:cNvPr id="13" name="Connector 13"/>
          <p:cNvCxnSpPr/>
          <p:nvPr/>
        </p:nvCxnSpPr>
        <p:spPr>
          <a:xfrm>
            <a:off x="4445000" y="2108200"/>
            <a:ext cx="0" cy="1485900"/>
          </a:xfrm>
          <a:prstGeom prst="line">
            <a:avLst/>
          </a:prstGeom>
          <a:ln w="19050">
            <a:solidFill>
              <a:srgbClr val="245B85"/>
            </a:solidFill>
          </a:ln>
        </p:spPr>
      </p:cxnSp>
      <p:cxnSp>
        <p:nvCxnSpPr>
          <p:cNvPr id="14" name="Connector 14"/>
          <p:cNvCxnSpPr/>
          <p:nvPr/>
        </p:nvCxnSpPr>
        <p:spPr>
          <a:xfrm>
            <a:off x="4445000" y="2844800"/>
            <a:ext cx="635000" cy="0"/>
          </a:xfrm>
          <a:prstGeom prst="line">
            <a:avLst/>
          </a:prstGeom>
          <a:ln w="19050">
            <a:solidFill>
              <a:srgbClr val="245B85"/>
            </a:solidFill>
            <a:tailEnd type="triangle" w="med" len="med"/>
          </a:ln>
        </p:spPr>
      </p:cxnSp>
      <p:sp>
        <p:nvSpPr>
          <p:cNvPr id="15" name="Component 15"/>
          <p:cNvSpPr/>
          <p:nvPr/>
        </p:nvSpPr>
        <p:spPr>
          <a:xfrm>
            <a:off x="5080000" y="2146300"/>
            <a:ext cx="2870200" cy="1473200"/>
          </a:xfrm>
          <a:prstGeom prst="rect">
            <a:avLst/>
          </a:prstGeom>
          <a:solidFill>
            <a:srgbClr val="EEF4F8"/>
          </a:solidFill>
          <a:ln w="12700">
            <a:solidFill>
              <a:srgbClr val="245B85"/>
            </a:solidFill>
          </a:ln>
        </p:spPr>
      </p:sp>
      <p:sp>
        <p:nvSpPr>
          <p:cNvPr id="16" name="Text 16"/>
          <p:cNvSpPr/>
          <p:nvPr/>
        </p:nvSpPr>
        <p:spPr>
          <a:xfrm>
            <a:off x="5257800" y="2286000"/>
            <a:ext cx="25146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900" b="1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stdio MCP 代理</a:t>
            </a:r>
            <a:endParaRPr lang="zh-TW" sz="1900"/>
          </a:p>
        </p:txBody>
      </p:sp>
      <p:sp>
        <p:nvSpPr>
          <p:cNvPr id="17" name="Text 17"/>
          <p:cNvSpPr/>
          <p:nvPr/>
        </p:nvSpPr>
        <p:spPr>
          <a:xfrm>
            <a:off x="5257800" y="2743200"/>
            <a:ext cx="2514600" cy="812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標準工具介面</a:t>
            </a:r>
            <a:endParaRPr lang="zh-TW" sz="1550"/>
          </a:p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本機讀取連線設定</a:t>
            </a:r>
            <a:endParaRPr lang="zh-TW" sz="1550"/>
          </a:p>
        </p:txBody>
      </p:sp>
      <p:cxnSp>
        <p:nvCxnSpPr>
          <p:cNvPr id="18" name="Connector 18"/>
          <p:cNvCxnSpPr/>
          <p:nvPr/>
        </p:nvCxnSpPr>
        <p:spPr>
          <a:xfrm>
            <a:off x="7950200" y="2844800"/>
            <a:ext cx="876300" cy="0"/>
          </a:xfrm>
          <a:prstGeom prst="line">
            <a:avLst/>
          </a:prstGeom>
          <a:ln w="19050">
            <a:solidFill>
              <a:srgbClr val="245B85"/>
            </a:solidFill>
            <a:tailEnd type="triangle" w="med" len="med"/>
          </a:ln>
        </p:spPr>
      </p:cxnSp>
      <p:sp>
        <p:nvSpPr>
          <p:cNvPr id="19" name="Component 19"/>
          <p:cNvSpPr/>
          <p:nvPr/>
        </p:nvSpPr>
        <p:spPr>
          <a:xfrm>
            <a:off x="8826500" y="2146300"/>
            <a:ext cx="2832100" cy="1473200"/>
          </a:xfrm>
          <a:prstGeom prst="rect">
            <a:avLst/>
          </a:prstGeom>
          <a:solidFill>
            <a:srgbClr val="EEF4F8"/>
          </a:solidFill>
          <a:ln w="12700">
            <a:solidFill>
              <a:srgbClr val="245B85"/>
            </a:solidFill>
          </a:ln>
        </p:spPr>
      </p:sp>
      <p:sp>
        <p:nvSpPr>
          <p:cNvPr id="20" name="Text 20"/>
          <p:cNvSpPr/>
          <p:nvPr/>
        </p:nvSpPr>
        <p:spPr>
          <a:xfrm>
            <a:off x="9004300" y="2286000"/>
            <a:ext cx="24765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900" b="1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emforge 平台</a:t>
            </a:r>
            <a:endParaRPr lang="zh-TW" sz="1900"/>
          </a:p>
        </p:txBody>
      </p:sp>
      <p:sp>
        <p:nvSpPr>
          <p:cNvPr id="21" name="Text 21"/>
          <p:cNvSpPr/>
          <p:nvPr/>
        </p:nvSpPr>
        <p:spPr>
          <a:xfrm>
            <a:off x="9004300" y="2743200"/>
            <a:ext cx="2476500" cy="812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查詢狀態與資料</a:t>
            </a:r>
            <a:endParaRPr lang="zh-TW" sz="1550"/>
          </a:p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送件、算法啟停</a:t>
            </a:r>
            <a:endParaRPr lang="zh-TW" sz="1550"/>
          </a:p>
        </p:txBody>
      </p:sp>
      <p:cxnSp>
        <p:nvCxnSpPr>
          <p:cNvPr id="22" name="Connector 22"/>
          <p:cNvCxnSpPr/>
          <p:nvPr/>
        </p:nvCxnSpPr>
        <p:spPr>
          <a:xfrm>
            <a:off x="533400" y="4432300"/>
            <a:ext cx="11125200" cy="0"/>
          </a:xfrm>
          <a:prstGeom prst="line">
            <a:avLst/>
          </a:prstGeom>
          <a:ln w="8890">
            <a:solidFill>
              <a:srgbClr val="CCD8E2"/>
            </a:solidFill>
          </a:ln>
        </p:spPr>
      </p:cxnSp>
      <p:sp>
        <p:nvSpPr>
          <p:cNvPr id="23" name="Text 23"/>
          <p:cNvSpPr/>
          <p:nvPr/>
        </p:nvSpPr>
        <p:spPr>
          <a:xfrm>
            <a:off x="533400" y="4775200"/>
            <a:ext cx="40640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altLang="en-US" sz="2000" b="1" dirty="0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用 </a:t>
            </a:r>
            <a:r>
              <a:rPr lang="en-US" altLang="zh-TW" sz="2000" b="1" dirty="0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AI</a:t>
            </a:r>
            <a:r>
              <a:rPr lang="zh-TW" altLang="en-US" sz="2000" b="1" dirty="0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 模型管理的好處</a:t>
            </a:r>
            <a:endParaRPr lang="zh-TW" sz="2000" dirty="0"/>
          </a:p>
        </p:txBody>
      </p:sp>
      <p:sp>
        <p:nvSpPr>
          <p:cNvPr id="24" name="Text 24"/>
          <p:cNvSpPr/>
          <p:nvPr/>
        </p:nvSpPr>
        <p:spPr>
          <a:xfrm>
            <a:off x="533400" y="5295900"/>
            <a:ext cx="11099800" cy="520699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altLang="en-US" sz="2000" b="0" dirty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可以用自然語言描述模擬 </a:t>
            </a:r>
            <a:r>
              <a:rPr lang="en-US" altLang="zh-TW" sz="2000" b="0" dirty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Profile</a:t>
            </a:r>
            <a:r>
              <a:rPr lang="zh-TW" altLang="en-US" sz="2000" b="0" dirty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 的更動、算法的調適、結果製圖與彙報。</a:t>
            </a:r>
            <a:endParaRPr lang="zh-TW" sz="2000" dirty="0"/>
          </a:p>
        </p:txBody>
      </p:sp>
      <p:sp>
        <p:nvSpPr>
          <p:cNvPr id="25" name="Text 25"/>
          <p:cNvSpPr/>
          <p:nvPr/>
        </p:nvSpPr>
        <p:spPr>
          <a:xfrm>
            <a:off x="533400" y="6343650"/>
            <a:ext cx="11099800" cy="4445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600" b="0" dirty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平台可在沒有 AI session 時持續執行。</a:t>
            </a:r>
            <a:endParaRPr lang="zh-TW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3400" y="330200"/>
            <a:ext cx="11125200" cy="584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3000" b="1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三台模擬機與本機平台</a:t>
            </a:r>
            <a:endParaRPr lang="zh-TW" sz="3000"/>
          </a:p>
        </p:txBody>
      </p:sp>
      <p:cxnSp>
        <p:nvCxnSpPr>
          <p:cNvPr id="3" name="Connector 3"/>
          <p:cNvCxnSpPr/>
          <p:nvPr/>
        </p:nvCxnSpPr>
        <p:spPr>
          <a:xfrm>
            <a:off x="533400" y="1041400"/>
            <a:ext cx="11125200" cy="0"/>
          </a:xfrm>
          <a:prstGeom prst="line">
            <a:avLst/>
          </a:prstGeom>
          <a:ln w="10160">
            <a:solidFill>
              <a:srgbClr val="CCD8E2"/>
            </a:solidFill>
          </a:ln>
        </p:spPr>
      </p:cxnSp>
      <p:cxnSp>
        <p:nvCxnSpPr>
          <p:cNvPr id="4" name="Connector 4"/>
          <p:cNvCxnSpPr/>
          <p:nvPr/>
        </p:nvCxnSpPr>
        <p:spPr>
          <a:xfrm>
            <a:off x="533400" y="1041400"/>
            <a:ext cx="1244600" cy="0"/>
          </a:xfrm>
          <a:prstGeom prst="line">
            <a:avLst/>
          </a:prstGeom>
          <a:ln w="30480">
            <a:solidFill>
              <a:srgbClr val="245B85"/>
            </a:solidFill>
          </a:ln>
        </p:spPr>
      </p:cxnSp>
      <p:sp>
        <p:nvSpPr>
          <p:cNvPr id="5" name="Text 5"/>
          <p:cNvSpPr/>
          <p:nvPr/>
        </p:nvSpPr>
        <p:spPr>
          <a:xfrm>
            <a:off x="11214100" y="6451600"/>
            <a:ext cx="4318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1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  <a:endParaRPr lang="zh-TW" sz="1100"/>
          </a:p>
        </p:txBody>
      </p:sp>
      <p:sp>
        <p:nvSpPr>
          <p:cNvPr id="6" name="Text 6"/>
          <p:cNvSpPr/>
          <p:nvPr/>
        </p:nvSpPr>
        <p:spPr>
          <a:xfrm>
            <a:off x="533400" y="6388100"/>
            <a:ext cx="104394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150" b="0" dirty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配置為 9/12 驗收紀錄，非即時在線狀態。目前本機相關服務已停止。</a:t>
            </a:r>
            <a:endParaRPr lang="zh-TW" sz="1150" dirty="0"/>
          </a:p>
        </p:txBody>
      </p:sp>
      <p:sp>
        <p:nvSpPr>
          <p:cNvPr id="7" name="Component 7"/>
          <p:cNvSpPr/>
          <p:nvPr/>
        </p:nvSpPr>
        <p:spPr>
          <a:xfrm>
            <a:off x="533400" y="1943100"/>
            <a:ext cx="4724400" cy="1905000"/>
          </a:xfrm>
          <a:prstGeom prst="rect">
            <a:avLst/>
          </a:prstGeom>
          <a:solidFill>
            <a:srgbClr val="EEF4F8"/>
          </a:solidFill>
          <a:ln w="12700">
            <a:solidFill>
              <a:srgbClr val="245B85"/>
            </a:solidFill>
          </a:ln>
        </p:spPr>
      </p:sp>
      <p:sp>
        <p:nvSpPr>
          <p:cNvPr id="8" name="Text 8"/>
          <p:cNvSpPr/>
          <p:nvPr/>
        </p:nvSpPr>
        <p:spPr>
          <a:xfrm>
            <a:off x="711200" y="2082800"/>
            <a:ext cx="43688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900" b="1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開發機／平台主機</a:t>
            </a:r>
            <a:endParaRPr lang="zh-TW" sz="1900"/>
          </a:p>
        </p:txBody>
      </p:sp>
      <p:sp>
        <p:nvSpPr>
          <p:cNvPr id="9" name="Text 9"/>
          <p:cNvSpPr/>
          <p:nvPr/>
        </p:nvSpPr>
        <p:spPr>
          <a:xfrm>
            <a:off x="711200" y="2540000"/>
            <a:ext cx="4368800" cy="1244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HTTP 平台、Runtime、Depot</a:t>
            </a:r>
            <a:endParaRPr lang="zh-TW" sz="1550"/>
          </a:p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算法節點使用既有 conda 環境</a:t>
            </a:r>
            <a:endParaRPr lang="zh-TW" sz="1550"/>
          </a:p>
        </p:txBody>
      </p:sp>
      <p:sp>
        <p:nvSpPr>
          <p:cNvPr id="10" name="Text 10"/>
          <p:cNvSpPr/>
          <p:nvPr/>
        </p:nvSpPr>
        <p:spPr>
          <a:xfrm>
            <a:off x="723900" y="4114800"/>
            <a:ext cx="4572000" cy="889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8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部署 profile</a:t>
            </a:r>
            <a:endParaRPr lang="zh-TW" sz="1800"/>
          </a:p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8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dual_p01_db075、fake_f1</a:t>
            </a:r>
            <a:endParaRPr lang="zh-TW" sz="1800"/>
          </a:p>
        </p:txBody>
      </p:sp>
      <p:cxnSp>
        <p:nvCxnSpPr>
          <p:cNvPr id="11" name="Connector 11"/>
          <p:cNvCxnSpPr/>
          <p:nvPr/>
        </p:nvCxnSpPr>
        <p:spPr>
          <a:xfrm>
            <a:off x="5257800" y="2870200"/>
            <a:ext cx="927100" cy="0"/>
          </a:xfrm>
          <a:prstGeom prst="line">
            <a:avLst/>
          </a:prstGeom>
          <a:ln w="19050">
            <a:solidFill>
              <a:srgbClr val="245B85"/>
            </a:solidFill>
          </a:ln>
        </p:spPr>
      </p:cxnSp>
      <p:cxnSp>
        <p:nvCxnSpPr>
          <p:cNvPr id="12" name="Connector 12"/>
          <p:cNvCxnSpPr/>
          <p:nvPr/>
        </p:nvCxnSpPr>
        <p:spPr>
          <a:xfrm>
            <a:off x="6184900" y="2019300"/>
            <a:ext cx="0" cy="3302000"/>
          </a:xfrm>
          <a:prstGeom prst="line">
            <a:avLst/>
          </a:prstGeom>
          <a:ln w="19050">
            <a:solidFill>
              <a:srgbClr val="245B85"/>
            </a:solidFill>
          </a:ln>
        </p:spPr>
      </p:cxnSp>
      <p:cxnSp>
        <p:nvCxnSpPr>
          <p:cNvPr id="13" name="Connector 13"/>
          <p:cNvCxnSpPr/>
          <p:nvPr/>
        </p:nvCxnSpPr>
        <p:spPr>
          <a:xfrm>
            <a:off x="6184900" y="2019300"/>
            <a:ext cx="863600" cy="0"/>
          </a:xfrm>
          <a:prstGeom prst="line">
            <a:avLst/>
          </a:prstGeom>
          <a:ln w="19050">
            <a:solidFill>
              <a:srgbClr val="245B85"/>
            </a:solidFill>
            <a:tailEnd type="triangle" w="med" len="med"/>
          </a:ln>
        </p:spPr>
      </p:cxnSp>
      <p:sp>
        <p:nvSpPr>
          <p:cNvPr id="14" name="Component 14"/>
          <p:cNvSpPr/>
          <p:nvPr/>
        </p:nvSpPr>
        <p:spPr>
          <a:xfrm>
            <a:off x="7048500" y="1460500"/>
            <a:ext cx="4597400" cy="1320800"/>
          </a:xfrm>
          <a:prstGeom prst="rect">
            <a:avLst/>
          </a:prstGeom>
          <a:solidFill>
            <a:srgbClr val="EEF4F8"/>
          </a:solidFill>
          <a:ln w="12700">
            <a:solidFill>
              <a:srgbClr val="245B85"/>
            </a:solidFill>
          </a:ln>
        </p:spPr>
      </p:sp>
      <p:sp>
        <p:nvSpPr>
          <p:cNvPr id="15" name="Text 15"/>
          <p:cNvSpPr/>
          <p:nvPr/>
        </p:nvSpPr>
        <p:spPr>
          <a:xfrm>
            <a:off x="7226300" y="1600200"/>
            <a:ext cx="42418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900" b="1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Worker 216</a:t>
            </a:r>
            <a:endParaRPr lang="zh-TW" sz="1900"/>
          </a:p>
        </p:txBody>
      </p:sp>
      <p:sp>
        <p:nvSpPr>
          <p:cNvPr id="16" name="Text 16"/>
          <p:cNvSpPr/>
          <p:nvPr/>
        </p:nvSpPr>
        <p:spPr>
          <a:xfrm>
            <a:off x="7226300" y="2057400"/>
            <a:ext cx="4241800" cy="660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本機 Python／HFSS</a:t>
            </a:r>
            <a:endParaRPr lang="zh-TW" sz="1550"/>
          </a:p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透過 HTTP 認領、回傳</a:t>
            </a:r>
            <a:endParaRPr lang="zh-TW" sz="1550"/>
          </a:p>
        </p:txBody>
      </p:sp>
      <p:cxnSp>
        <p:nvCxnSpPr>
          <p:cNvPr id="17" name="Connector 17"/>
          <p:cNvCxnSpPr/>
          <p:nvPr/>
        </p:nvCxnSpPr>
        <p:spPr>
          <a:xfrm>
            <a:off x="6184900" y="3670300"/>
            <a:ext cx="863600" cy="0"/>
          </a:xfrm>
          <a:prstGeom prst="line">
            <a:avLst/>
          </a:prstGeom>
          <a:ln w="19050">
            <a:solidFill>
              <a:srgbClr val="245B85"/>
            </a:solidFill>
            <a:tailEnd type="triangle" w="med" len="med"/>
          </a:ln>
        </p:spPr>
      </p:cxnSp>
      <p:sp>
        <p:nvSpPr>
          <p:cNvPr id="18" name="Component 18"/>
          <p:cNvSpPr/>
          <p:nvPr/>
        </p:nvSpPr>
        <p:spPr>
          <a:xfrm>
            <a:off x="7048500" y="3111500"/>
            <a:ext cx="4597400" cy="1320800"/>
          </a:xfrm>
          <a:prstGeom prst="rect">
            <a:avLst/>
          </a:prstGeom>
          <a:solidFill>
            <a:srgbClr val="EEF4F8"/>
          </a:solidFill>
          <a:ln w="12700">
            <a:solidFill>
              <a:srgbClr val="245B85"/>
            </a:solidFill>
          </a:ln>
        </p:spPr>
      </p:sp>
      <p:sp>
        <p:nvSpPr>
          <p:cNvPr id="19" name="Text 19"/>
          <p:cNvSpPr/>
          <p:nvPr/>
        </p:nvSpPr>
        <p:spPr>
          <a:xfrm>
            <a:off x="7226300" y="3251200"/>
            <a:ext cx="42418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900" b="1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Worker 218</a:t>
            </a:r>
            <a:endParaRPr lang="zh-TW" sz="1900"/>
          </a:p>
        </p:txBody>
      </p:sp>
      <p:sp>
        <p:nvSpPr>
          <p:cNvPr id="20" name="Text 20"/>
          <p:cNvSpPr/>
          <p:nvPr/>
        </p:nvSpPr>
        <p:spPr>
          <a:xfrm>
            <a:off x="7226300" y="3708400"/>
            <a:ext cx="4241800" cy="660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本機 Python／HFSS</a:t>
            </a:r>
            <a:endParaRPr lang="zh-TW" sz="1550"/>
          </a:p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透過 HTTP 認領、回傳</a:t>
            </a:r>
            <a:endParaRPr lang="zh-TW" sz="1550"/>
          </a:p>
        </p:txBody>
      </p:sp>
      <p:cxnSp>
        <p:nvCxnSpPr>
          <p:cNvPr id="21" name="Connector 21"/>
          <p:cNvCxnSpPr/>
          <p:nvPr/>
        </p:nvCxnSpPr>
        <p:spPr>
          <a:xfrm>
            <a:off x="6184900" y="5321300"/>
            <a:ext cx="863600" cy="0"/>
          </a:xfrm>
          <a:prstGeom prst="line">
            <a:avLst/>
          </a:prstGeom>
          <a:ln w="19050">
            <a:solidFill>
              <a:srgbClr val="245B85"/>
            </a:solidFill>
            <a:tailEnd type="triangle" w="med" len="med"/>
          </a:ln>
        </p:spPr>
      </p:cxnSp>
      <p:sp>
        <p:nvSpPr>
          <p:cNvPr id="22" name="Component 22"/>
          <p:cNvSpPr/>
          <p:nvPr/>
        </p:nvSpPr>
        <p:spPr>
          <a:xfrm>
            <a:off x="7048500" y="4762500"/>
            <a:ext cx="4597400" cy="1320800"/>
          </a:xfrm>
          <a:prstGeom prst="rect">
            <a:avLst/>
          </a:prstGeom>
          <a:solidFill>
            <a:srgbClr val="EEF4F8"/>
          </a:solidFill>
          <a:ln w="12700">
            <a:solidFill>
              <a:srgbClr val="245B85"/>
            </a:solidFill>
          </a:ln>
        </p:spPr>
      </p:sp>
      <p:sp>
        <p:nvSpPr>
          <p:cNvPr id="23" name="Text 23"/>
          <p:cNvSpPr/>
          <p:nvPr/>
        </p:nvSpPr>
        <p:spPr>
          <a:xfrm>
            <a:off x="7226300" y="4902200"/>
            <a:ext cx="4241800" cy="381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900" b="1">
                <a:solidFill>
                  <a:srgbClr val="245B85"/>
                </a:solidFill>
                <a:latin typeface="Microsoft JhengHei"/>
                <a:ea typeface="Microsoft JhengHei"/>
                <a:cs typeface="Microsoft JhengHei"/>
              </a:rPr>
              <a:t>Worker 37</a:t>
            </a:r>
            <a:endParaRPr lang="zh-TW" sz="1900"/>
          </a:p>
        </p:txBody>
      </p:sp>
      <p:sp>
        <p:nvSpPr>
          <p:cNvPr id="24" name="Text 24"/>
          <p:cNvSpPr/>
          <p:nvPr/>
        </p:nvSpPr>
        <p:spPr>
          <a:xfrm>
            <a:off x="7226300" y="5359400"/>
            <a:ext cx="4241800" cy="660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本機 Python／HFSS</a:t>
            </a:r>
            <a:endParaRPr lang="zh-TW" sz="1550"/>
          </a:p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50" b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透過 HTTP 認領、回傳</a:t>
            </a:r>
            <a:endParaRPr lang="zh-TW" sz="1550"/>
          </a:p>
        </p:txBody>
      </p:sp>
      <p:sp>
        <p:nvSpPr>
          <p:cNvPr id="25" name="Text 25"/>
          <p:cNvSpPr/>
          <p:nvPr/>
        </p:nvSpPr>
        <p:spPr>
          <a:xfrm>
            <a:off x="5372100" y="4051300"/>
            <a:ext cx="774700" cy="9525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4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HTTP</a:t>
            </a:r>
            <a:endParaRPr lang="zh-TW" sz="1400"/>
          </a:p>
          <a:p>
            <a:pPr algn="ctr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4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工作／</a:t>
            </a:r>
            <a:endParaRPr lang="zh-TW" sz="1400"/>
          </a:p>
          <a:p>
            <a:pPr algn="ctr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4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結果</a:t>
            </a:r>
            <a:endParaRPr lang="zh-TW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3400" y="330200"/>
            <a:ext cx="11125200" cy="584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3000" b="1" dirty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目前</a:t>
            </a:r>
            <a:r>
              <a:rPr lang="zh-TW" altLang="en-US" sz="3000" b="1" dirty="0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對平台的測試</a:t>
            </a:r>
            <a:endParaRPr lang="zh-TW" sz="3000" dirty="0"/>
          </a:p>
        </p:txBody>
      </p:sp>
      <p:cxnSp>
        <p:nvCxnSpPr>
          <p:cNvPr id="3" name="Connector 3"/>
          <p:cNvCxnSpPr/>
          <p:nvPr/>
        </p:nvCxnSpPr>
        <p:spPr>
          <a:xfrm>
            <a:off x="533400" y="1041400"/>
            <a:ext cx="11125200" cy="0"/>
          </a:xfrm>
          <a:prstGeom prst="line">
            <a:avLst/>
          </a:prstGeom>
          <a:ln w="10160">
            <a:solidFill>
              <a:srgbClr val="CCD8E2"/>
            </a:solidFill>
          </a:ln>
        </p:spPr>
      </p:cxnSp>
      <p:cxnSp>
        <p:nvCxnSpPr>
          <p:cNvPr id="4" name="Connector 4"/>
          <p:cNvCxnSpPr/>
          <p:nvPr/>
        </p:nvCxnSpPr>
        <p:spPr>
          <a:xfrm>
            <a:off x="533400" y="1041400"/>
            <a:ext cx="1244600" cy="0"/>
          </a:xfrm>
          <a:prstGeom prst="line">
            <a:avLst/>
          </a:prstGeom>
          <a:ln w="30480">
            <a:solidFill>
              <a:srgbClr val="245B85"/>
            </a:solidFill>
          </a:ln>
        </p:spPr>
      </p:cxnSp>
      <p:sp>
        <p:nvSpPr>
          <p:cNvPr id="5" name="Text 5"/>
          <p:cNvSpPr/>
          <p:nvPr/>
        </p:nvSpPr>
        <p:spPr>
          <a:xfrm>
            <a:off x="11214100" y="6451600"/>
            <a:ext cx="4318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altLang="zh-TW" sz="11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  <a:endParaRPr lang="zh-TW" sz="1100"/>
          </a:p>
        </p:txBody>
      </p:sp>
      <p:graphicFrame>
        <p:nvGraphicFramePr>
          <p:cNvPr id="7" name="Table 7"/>
          <p:cNvGraphicFramePr/>
          <p:nvPr/>
        </p:nvGraphicFramePr>
        <p:xfrm>
          <a:off x="533400" y="1498600"/>
          <a:ext cx="11125200" cy="4305300"/>
        </p:xfrm>
        <a:graphic>
          <a:graphicData uri="http://schemas.openxmlformats.org/drawingml/2006/table">
            <a:tbl>
              <a:tblPr firstRow="1"/>
              <a:tblGrid>
                <a:gridCol w="26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1">
                          <a:solidFill>
                            <a:srgbClr val="245B8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範圍</a:t>
                      </a:r>
                      <a:endParaRPr lang="zh-TW" sz="17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1">
                          <a:solidFill>
                            <a:srgbClr val="245B8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已完成</a:t>
                      </a:r>
                      <a:endParaRPr lang="zh-TW" sz="17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1">
                          <a:solidFill>
                            <a:srgbClr val="245B8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仍需確認</a:t>
                      </a:r>
                      <a:endParaRPr lang="zh-TW" sz="17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7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三機初步驗收</a:t>
                      </a:r>
                      <a:endParaRPr lang="zh-TW" sz="17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 筆 fake、10 筆真 HFSS</a:t>
                      </a:r>
                      <a:endParaRPr lang="zh-TW" sz="1700"/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跨機 measure 與 score 相同</a:t>
                      </a:r>
                      <a:endParaRPr lang="zh-TW" sz="17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客戶環境持續運行</a:t>
                      </a:r>
                      <a:endParaRPr lang="zh-TW" sz="17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同圖跨機一致性</a:t>
                      </a:r>
                      <a:endParaRPr lang="zh-TW" sz="17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 response 最大差</a:t>
                      </a:r>
                      <a:endParaRPr lang="zh-TW" sz="1700"/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約 1.91 × 10⁻⁶ dB</a:t>
                      </a:r>
                      <a:endParaRPr lang="zh-TW" sz="17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實體製造與量測對照</a:t>
                      </a:r>
                      <a:endParaRPr lang="zh-TW" sz="17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9/12 程式修正版</a:t>
                      </a:r>
                      <a:endParaRPr lang="zh-TW" sz="17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640 tests、pyflakes</a:t>
                      </a:r>
                      <a:endParaRPr lang="zh-TW" sz="1700"/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實際發布包與啟動探測通過</a:t>
                      </a:r>
                      <a:endParaRPr lang="zh-TW" sz="17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切換遠端及故障演練</a:t>
                      </a:r>
                      <a:endParaRPr lang="zh-TW" sz="17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接口</a:t>
                      </a:r>
                      <a:endParaRPr lang="zh-TW" sz="17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Pi 整合、TypeScript</a:t>
                      </a:r>
                      <a:endParaRPr lang="zh-TW" sz="1700"/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共用 MCP 接口驗證</a:t>
                      </a:r>
                      <a:endParaRPr lang="zh-TW" sz="17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7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模型登入及對話實驗</a:t>
                      </a:r>
                      <a:endParaRPr lang="zh-TW" sz="17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3400" y="330200"/>
            <a:ext cx="11125200" cy="584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3000" b="1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現況與後續實驗</a:t>
            </a:r>
            <a:endParaRPr lang="zh-TW" sz="3000"/>
          </a:p>
        </p:txBody>
      </p:sp>
      <p:cxnSp>
        <p:nvCxnSpPr>
          <p:cNvPr id="3" name="Connector 3"/>
          <p:cNvCxnSpPr/>
          <p:nvPr/>
        </p:nvCxnSpPr>
        <p:spPr>
          <a:xfrm>
            <a:off x="533400" y="1041400"/>
            <a:ext cx="11125200" cy="0"/>
          </a:xfrm>
          <a:prstGeom prst="line">
            <a:avLst/>
          </a:prstGeom>
          <a:ln w="10160">
            <a:solidFill>
              <a:srgbClr val="CCD8E2"/>
            </a:solidFill>
          </a:ln>
        </p:spPr>
      </p:cxnSp>
      <p:cxnSp>
        <p:nvCxnSpPr>
          <p:cNvPr id="4" name="Connector 4"/>
          <p:cNvCxnSpPr/>
          <p:nvPr/>
        </p:nvCxnSpPr>
        <p:spPr>
          <a:xfrm>
            <a:off x="533400" y="1041400"/>
            <a:ext cx="1244600" cy="0"/>
          </a:xfrm>
          <a:prstGeom prst="line">
            <a:avLst/>
          </a:prstGeom>
          <a:ln w="30480">
            <a:solidFill>
              <a:srgbClr val="245B85"/>
            </a:solidFill>
          </a:ln>
        </p:spPr>
      </p:cxnSp>
      <p:sp>
        <p:nvSpPr>
          <p:cNvPr id="5" name="Text 5"/>
          <p:cNvSpPr/>
          <p:nvPr/>
        </p:nvSpPr>
        <p:spPr>
          <a:xfrm>
            <a:off x="11214100" y="6451600"/>
            <a:ext cx="4318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altLang="zh-TW" sz="11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  <a:endParaRPr lang="zh-TW" sz="1100"/>
          </a:p>
        </p:txBody>
      </p:sp>
      <p:graphicFrame>
        <p:nvGraphicFramePr>
          <p:cNvPr id="7" name="Table 7"/>
          <p:cNvGraphicFramePr/>
          <p:nvPr>
            <p:extLst>
              <p:ext uri="{D42A27DB-BD31-4B8C-83A1-F6EECF244321}">
                <p14:modId xmlns:p14="http://schemas.microsoft.com/office/powerpoint/2010/main" val="1084979909"/>
              </p:ext>
            </p:extLst>
          </p:nvPr>
        </p:nvGraphicFramePr>
        <p:xfrm>
          <a:off x="533400" y="1485900"/>
          <a:ext cx="11125200" cy="4191000"/>
        </p:xfrm>
        <a:graphic>
          <a:graphicData uri="http://schemas.openxmlformats.org/drawingml/2006/table">
            <a:tbl>
              <a:tblPr firstRow="1"/>
              <a:tblGrid>
                <a:gridCol w="250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1">
                          <a:solidFill>
                            <a:srgbClr val="245B8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  <a:endParaRPr lang="zh-TW" sz="18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1">
                          <a:solidFill>
                            <a:srgbClr val="245B8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目前狀態</a:t>
                      </a:r>
                      <a:endParaRPr lang="zh-TW" sz="18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1">
                          <a:solidFill>
                            <a:srgbClr val="245B8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後續工作</a:t>
                      </a:r>
                      <a:endParaRPr lang="zh-TW" sz="18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實體驗證</a:t>
                      </a:r>
                      <a:endParaRPr lang="zh-TW" sz="18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39 個設計已交付</a:t>
                      </a:r>
                      <a:endParaRPr lang="zh-TW" sz="18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altLang="en-US" sz="1800" b="0" dirty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</a:t>
                      </a:r>
                      <a:endParaRPr lang="zh-TW" sz="1800" dirty="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搜尋結果</a:t>
                      </a:r>
                      <a:endParaRPr lang="zh-TW" sz="18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0" dirty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single +0.79 dB</a:t>
                      </a:r>
                      <a:endParaRPr lang="zh-TW" sz="1800" dirty="0"/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0" dirty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dual −2.39 dB</a:t>
                      </a:r>
                      <a:endParaRPr lang="zh-TW" sz="1800" dirty="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altLang="en-US" sz="1800" b="0" dirty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</a:rPr>
                        <a:t>無</a:t>
                      </a:r>
                      <a:endParaRPr lang="zh-TW" sz="1800" dirty="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79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平台</a:t>
                      </a:r>
                      <a:endParaRPr lang="zh-TW" sz="18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0" dirty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三機初驗完成</a:t>
                      </a:r>
                      <a:endParaRPr lang="zh-TW" sz="1800" dirty="0"/>
                    </a:p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0" dirty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修正版僅本機驗證</a:t>
                      </a:r>
                      <a:endParaRPr lang="zh-TW" sz="1800" dirty="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遠端更新與斷線／重啟演練</a:t>
                      </a:r>
                      <a:endParaRPr lang="zh-TW" sz="18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輔助實驗</a:t>
                      </a:r>
                      <a:endParaRPr lang="zh-TW" sz="18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接口完成，模型未登入</a:t>
                      </a:r>
                      <a:endParaRPr lang="zh-TW" sz="180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TW" sz="1800" b="0" dirty="0">
                          <a:solidFill>
                            <a:srgbClr val="152C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選定模型後做受控比較</a:t>
                      </a:r>
                      <a:endParaRPr lang="zh-TW" sz="1800" dirty="0"/>
                    </a:p>
                  </a:txBody>
                  <a:tcPr marL="127000" marR="127000" marT="114300" marB="88900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CC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CD8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8"/>
          <p:cNvSpPr/>
          <p:nvPr/>
        </p:nvSpPr>
        <p:spPr>
          <a:xfrm>
            <a:off x="533400" y="5854700"/>
            <a:ext cx="10972800" cy="533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15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以相同 Profile／Spec、候選預算與對照組，比較新增結果、失敗率及求解成本。</a:t>
            </a:r>
            <a:endParaRPr lang="zh-TW" sz="1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3400" y="330200"/>
            <a:ext cx="11125200" cy="584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3000" b="1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附錄：天線交付目錄</a:t>
            </a:r>
            <a:endParaRPr lang="zh-TW" sz="3000"/>
          </a:p>
        </p:txBody>
      </p:sp>
      <p:cxnSp>
        <p:nvCxnSpPr>
          <p:cNvPr id="3" name="Connector 3"/>
          <p:cNvCxnSpPr/>
          <p:nvPr/>
        </p:nvCxnSpPr>
        <p:spPr>
          <a:xfrm>
            <a:off x="533400" y="1041400"/>
            <a:ext cx="11125200" cy="0"/>
          </a:xfrm>
          <a:prstGeom prst="line">
            <a:avLst/>
          </a:prstGeom>
          <a:ln w="10160">
            <a:solidFill>
              <a:srgbClr val="CCD8E2"/>
            </a:solidFill>
          </a:ln>
        </p:spPr>
      </p:cxnSp>
      <p:cxnSp>
        <p:nvCxnSpPr>
          <p:cNvPr id="4" name="Connector 4"/>
          <p:cNvCxnSpPr/>
          <p:nvPr/>
        </p:nvCxnSpPr>
        <p:spPr>
          <a:xfrm>
            <a:off x="533400" y="1041400"/>
            <a:ext cx="1244600" cy="0"/>
          </a:xfrm>
          <a:prstGeom prst="line">
            <a:avLst/>
          </a:prstGeom>
          <a:ln w="30480">
            <a:solidFill>
              <a:srgbClr val="245B85"/>
            </a:solidFill>
          </a:ln>
        </p:spPr>
      </p:cxnSp>
      <p:sp>
        <p:nvSpPr>
          <p:cNvPr id="5" name="Text 5"/>
          <p:cNvSpPr/>
          <p:nvPr/>
        </p:nvSpPr>
        <p:spPr>
          <a:xfrm>
            <a:off x="11214100" y="6451600"/>
            <a:ext cx="4318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altLang="zh-TW" sz="11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  <a:endParaRPr lang="zh-TW" sz="1100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8923BD8D-EAF4-F884-F7BF-CE683ED2FBB2}"/>
              </a:ext>
            </a:extLst>
          </p:cNvPr>
          <p:cNvGrpSpPr/>
          <p:nvPr/>
        </p:nvGrpSpPr>
        <p:grpSpPr>
          <a:xfrm>
            <a:off x="2918792" y="1238444"/>
            <a:ext cx="6742045" cy="5102252"/>
            <a:chOff x="487018" y="1168402"/>
            <a:chExt cx="6742045" cy="5102252"/>
          </a:xfrm>
        </p:grpSpPr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71C046C0-05AF-53C7-1555-AACBA7224A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" y="1168402"/>
              <a:ext cx="6695661" cy="1646052"/>
            </a:xfrm>
            <a:prstGeom prst="rect">
              <a:avLst/>
            </a:prstGeom>
          </p:spPr>
        </p:pic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D59AF826-DE1E-23DB-FE83-CDFDA3011B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7018" y="2941455"/>
              <a:ext cx="6695661" cy="1598020"/>
            </a:xfrm>
            <a:prstGeom prst="rect">
              <a:avLst/>
            </a:prstGeom>
          </p:spPr>
        </p:pic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50B2A609-0E87-058E-EF85-C07238268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6081"/>
            <a:stretch/>
          </p:blipFill>
          <p:spPr>
            <a:xfrm>
              <a:off x="487019" y="4666476"/>
              <a:ext cx="6742044" cy="160417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33400" y="330200"/>
            <a:ext cx="11125200" cy="584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lang="zh-TW" sz="3000" b="1">
                <a:solidFill>
                  <a:srgbClr val="152C3D"/>
                </a:solidFill>
                <a:latin typeface="Microsoft JhengHei"/>
                <a:ea typeface="Microsoft JhengHei"/>
                <a:cs typeface="Microsoft JhengHei"/>
              </a:rPr>
              <a:t>附錄：濾波器交付目錄</a:t>
            </a:r>
            <a:endParaRPr lang="zh-TW" sz="3000"/>
          </a:p>
        </p:txBody>
      </p:sp>
      <p:cxnSp>
        <p:nvCxnSpPr>
          <p:cNvPr id="3" name="Connector 3"/>
          <p:cNvCxnSpPr/>
          <p:nvPr/>
        </p:nvCxnSpPr>
        <p:spPr>
          <a:xfrm>
            <a:off x="533400" y="1041400"/>
            <a:ext cx="11125200" cy="0"/>
          </a:xfrm>
          <a:prstGeom prst="line">
            <a:avLst/>
          </a:prstGeom>
          <a:ln w="10160">
            <a:solidFill>
              <a:srgbClr val="CCD8E2"/>
            </a:solidFill>
          </a:ln>
        </p:spPr>
      </p:cxnSp>
      <p:cxnSp>
        <p:nvCxnSpPr>
          <p:cNvPr id="4" name="Connector 4"/>
          <p:cNvCxnSpPr/>
          <p:nvPr/>
        </p:nvCxnSpPr>
        <p:spPr>
          <a:xfrm>
            <a:off x="533400" y="1041400"/>
            <a:ext cx="1244600" cy="0"/>
          </a:xfrm>
          <a:prstGeom prst="line">
            <a:avLst/>
          </a:prstGeom>
          <a:ln w="30480">
            <a:solidFill>
              <a:srgbClr val="245B85"/>
            </a:solidFill>
          </a:ln>
        </p:spPr>
      </p:cxnSp>
      <p:sp>
        <p:nvSpPr>
          <p:cNvPr id="5" name="Text 5"/>
          <p:cNvSpPr/>
          <p:nvPr/>
        </p:nvSpPr>
        <p:spPr>
          <a:xfrm>
            <a:off x="11214100" y="6451600"/>
            <a:ext cx="4318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altLang="zh-TW" sz="1100" b="0">
                <a:solidFill>
                  <a:srgbClr val="526A7D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  <a:endParaRPr lang="zh-TW" sz="110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8346385B-9511-E30B-64F8-FB340C79B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465" y="1252931"/>
            <a:ext cx="9187070" cy="2234112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9F784605-264A-32D4-3B11-8B96B3EEB6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465" y="3806956"/>
            <a:ext cx="9187070" cy="21650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ap_title">
            <a:extLst>
              <a:ext uri="{FF2B5EF4-FFF2-40B4-BE49-F238E27FC236}">
                <a16:creationId xmlns:a16="http://schemas.microsoft.com/office/drawing/2014/main" id="{8C057258-7C30-00BB-EF62-34B295631762}"/>
              </a:ext>
            </a:extLst>
          </p:cNvPr>
          <p:cNvSpPr txBox="1"/>
          <p:nvPr/>
        </p:nvSpPr>
        <p:spPr>
          <a:xfrm>
            <a:off x="533400" y="279399"/>
            <a:ext cx="111125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3000" b="1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七月：研究流程與驗證效率</a:t>
            </a: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397A07AD-7EF3-1649-5EC1-B4D087B51E01}"/>
              </a:ext>
            </a:extLst>
          </p:cNvPr>
          <p:cNvCxnSpPr/>
          <p:nvPr/>
        </p:nvCxnSpPr>
        <p:spPr>
          <a:xfrm>
            <a:off x="533400" y="1041400"/>
            <a:ext cx="11125200" cy="0"/>
          </a:xfrm>
          <a:prstGeom prst="line">
            <a:avLst/>
          </a:prstGeom>
          <a:ln w="8890">
            <a:solidFill>
              <a:srgbClr val="C6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49F6284E-50FF-30AE-4793-687FF127FFC7}"/>
              </a:ext>
            </a:extLst>
          </p:cNvPr>
          <p:cNvCxnSpPr/>
          <p:nvPr/>
        </p:nvCxnSpPr>
        <p:spPr>
          <a:xfrm>
            <a:off x="533400" y="1041400"/>
            <a:ext cx="1244600" cy="0"/>
          </a:xfrm>
          <a:prstGeom prst="line">
            <a:avLst/>
          </a:prstGeom>
          <a:ln w="29210">
            <a:solidFill>
              <a:srgbClr val="245B85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8E0C1EE8-15CE-69F0-35A4-D48306E168EE}"/>
              </a:ext>
            </a:extLst>
          </p:cNvPr>
          <p:cNvSpPr txBox="1"/>
          <p:nvPr/>
        </p:nvSpPr>
        <p:spPr>
          <a:xfrm>
            <a:off x="533400" y="1371599"/>
            <a:ext cx="111252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把候選決策、真值模擬與代理訓練拆開，讓工作分配可追溯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7A8403-95CE-8F9A-7FE3-C785F70FF98E}"/>
              </a:ext>
            </a:extLst>
          </p:cNvPr>
          <p:cNvSpPr/>
          <p:nvPr/>
        </p:nvSpPr>
        <p:spPr>
          <a:xfrm>
            <a:off x="533400" y="2108200"/>
            <a:ext cx="2438400" cy="1092200"/>
          </a:xfrm>
          <a:prstGeom prst="rect">
            <a:avLst/>
          </a:prstGeom>
          <a:solidFill>
            <a:srgbClr val="EEF4F8"/>
          </a:solidFill>
          <a:ln w="12700">
            <a:solidFill>
              <a:srgbClr val="A6B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08E4DC0-A9A5-4DDA-7000-F1C575BBA3CD}"/>
              </a:ext>
            </a:extLst>
          </p:cNvPr>
          <p:cNvSpPr txBox="1"/>
          <p:nvPr/>
        </p:nvSpPr>
        <p:spPr>
          <a:xfrm>
            <a:off x="660400" y="2336799"/>
            <a:ext cx="21844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9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Agent </a:t>
            </a:r>
            <a:r>
              <a:rPr lang="zh-TW" altLang="en-US" sz="19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決策
提出下一輪假設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96F6E4F-9238-A157-DDA3-1F3B2C7CD230}"/>
              </a:ext>
            </a:extLst>
          </p:cNvPr>
          <p:cNvSpPr/>
          <p:nvPr/>
        </p:nvSpPr>
        <p:spPr>
          <a:xfrm>
            <a:off x="3429000" y="2108200"/>
            <a:ext cx="2438400" cy="1092200"/>
          </a:xfrm>
          <a:prstGeom prst="rect">
            <a:avLst/>
          </a:prstGeom>
          <a:solidFill>
            <a:srgbClr val="EEF4F8"/>
          </a:solidFill>
          <a:ln w="12700">
            <a:solidFill>
              <a:srgbClr val="A6B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C7194E9-379D-8FEE-D6CB-FC40DB5B8BCC}"/>
              </a:ext>
            </a:extLst>
          </p:cNvPr>
          <p:cNvSpPr txBox="1"/>
          <p:nvPr/>
        </p:nvSpPr>
        <p:spPr>
          <a:xfrm>
            <a:off x="3556000" y="2336799"/>
            <a:ext cx="21844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TW" altLang="en-US" sz="19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工具箱
產生候選圖樣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FB7D08-F2E7-52BC-94B6-52E79B22EA04}"/>
              </a:ext>
            </a:extLst>
          </p:cNvPr>
          <p:cNvSpPr/>
          <p:nvPr/>
        </p:nvSpPr>
        <p:spPr>
          <a:xfrm>
            <a:off x="6324600" y="2108200"/>
            <a:ext cx="2438400" cy="1092200"/>
          </a:xfrm>
          <a:prstGeom prst="rect">
            <a:avLst/>
          </a:prstGeom>
          <a:solidFill>
            <a:srgbClr val="EEF4F8"/>
          </a:solidFill>
          <a:ln w="12700">
            <a:solidFill>
              <a:srgbClr val="A6B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4688290-D2F9-598B-544F-C55A1B4EC786}"/>
              </a:ext>
            </a:extLst>
          </p:cNvPr>
          <p:cNvSpPr txBox="1"/>
          <p:nvPr/>
        </p:nvSpPr>
        <p:spPr>
          <a:xfrm>
            <a:off x="6451600" y="2336799"/>
            <a:ext cx="21844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9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HFSS
</a:t>
            </a:r>
            <a:r>
              <a:rPr lang="zh-TW" altLang="en-US" sz="19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批次驗證真值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9F7C8D-AF55-34BF-847F-4FBC39475D2E}"/>
              </a:ext>
            </a:extLst>
          </p:cNvPr>
          <p:cNvSpPr/>
          <p:nvPr/>
        </p:nvSpPr>
        <p:spPr>
          <a:xfrm>
            <a:off x="9220200" y="2108200"/>
            <a:ext cx="2438400" cy="1092200"/>
          </a:xfrm>
          <a:prstGeom prst="rect">
            <a:avLst/>
          </a:prstGeom>
          <a:solidFill>
            <a:srgbClr val="EEF4F8"/>
          </a:solidFill>
          <a:ln w="12700">
            <a:solidFill>
              <a:srgbClr val="A6B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719F4FE-7F8D-DA45-8894-D33146171B96}"/>
              </a:ext>
            </a:extLst>
          </p:cNvPr>
          <p:cNvSpPr txBox="1"/>
          <p:nvPr/>
        </p:nvSpPr>
        <p:spPr>
          <a:xfrm>
            <a:off x="9347200" y="2336799"/>
            <a:ext cx="21844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TW" altLang="en-US" sz="19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資料池與分析
回饋研究判斷</a:t>
            </a: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AF3B897C-8FF5-00BE-BD63-1B7C02A4C753}"/>
              </a:ext>
            </a:extLst>
          </p:cNvPr>
          <p:cNvCxnSpPr/>
          <p:nvPr/>
        </p:nvCxnSpPr>
        <p:spPr>
          <a:xfrm>
            <a:off x="3022600" y="2654300"/>
            <a:ext cx="355600" cy="0"/>
          </a:xfrm>
          <a:prstGeom prst="line">
            <a:avLst/>
          </a:prstGeom>
          <a:ln w="19050">
            <a:solidFill>
              <a:srgbClr val="245B85"/>
            </a:solidFill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09D3BE66-7634-0EC2-9608-E34671265F7D}"/>
              </a:ext>
            </a:extLst>
          </p:cNvPr>
          <p:cNvCxnSpPr/>
          <p:nvPr/>
        </p:nvCxnSpPr>
        <p:spPr>
          <a:xfrm>
            <a:off x="5918200" y="2654300"/>
            <a:ext cx="355600" cy="0"/>
          </a:xfrm>
          <a:prstGeom prst="line">
            <a:avLst/>
          </a:prstGeom>
          <a:ln w="19050">
            <a:solidFill>
              <a:srgbClr val="245B85"/>
            </a:solidFill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0CD1F204-ADF7-EE55-4598-5D3DF41B58CA}"/>
              </a:ext>
            </a:extLst>
          </p:cNvPr>
          <p:cNvCxnSpPr/>
          <p:nvPr/>
        </p:nvCxnSpPr>
        <p:spPr>
          <a:xfrm>
            <a:off x="8813800" y="2654300"/>
            <a:ext cx="355600" cy="0"/>
          </a:xfrm>
          <a:prstGeom prst="line">
            <a:avLst/>
          </a:prstGeom>
          <a:ln w="19050">
            <a:solidFill>
              <a:srgbClr val="245B85"/>
            </a:solidFill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D7D47DDC-94FB-6FAA-1FEF-89E37990C333}"/>
              </a:ext>
            </a:extLst>
          </p:cNvPr>
          <p:cNvCxnSpPr/>
          <p:nvPr/>
        </p:nvCxnSpPr>
        <p:spPr>
          <a:xfrm>
            <a:off x="10439400" y="3200400"/>
            <a:ext cx="0" cy="419100"/>
          </a:xfrm>
          <a:prstGeom prst="line">
            <a:avLst/>
          </a:prstGeom>
          <a:ln w="19050">
            <a:solidFill>
              <a:srgbClr val="245B85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F007E55A-C4FC-1FB6-EC48-393C79B7ABE5}"/>
              </a:ext>
            </a:extLst>
          </p:cNvPr>
          <p:cNvCxnSpPr/>
          <p:nvPr/>
        </p:nvCxnSpPr>
        <p:spPr>
          <a:xfrm flipH="1">
            <a:off x="1752600" y="3619500"/>
            <a:ext cx="8686800" cy="0"/>
          </a:xfrm>
          <a:prstGeom prst="line">
            <a:avLst/>
          </a:prstGeom>
          <a:ln w="19050">
            <a:solidFill>
              <a:srgbClr val="245B85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E612A429-804F-6DA4-4674-C10105CB8A55}"/>
              </a:ext>
            </a:extLst>
          </p:cNvPr>
          <p:cNvCxnSpPr/>
          <p:nvPr/>
        </p:nvCxnSpPr>
        <p:spPr>
          <a:xfrm flipV="1">
            <a:off x="1752600" y="3200400"/>
            <a:ext cx="0" cy="419100"/>
          </a:xfrm>
          <a:prstGeom prst="line">
            <a:avLst/>
          </a:prstGeom>
          <a:ln w="19050">
            <a:solidFill>
              <a:srgbClr val="245B85"/>
            </a:solidFill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BB74519-6B84-052E-2EB0-28FC1300F08C}"/>
              </a:ext>
            </a:extLst>
          </p:cNvPr>
          <p:cNvSpPr txBox="1"/>
          <p:nvPr/>
        </p:nvSpPr>
        <p:spPr>
          <a:xfrm>
            <a:off x="2717800" y="3835399"/>
            <a:ext cx="7239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TW" altLang="en-US" sz="16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代理模型在事後批次重錨，分析結果用於下一輪決策</a:t>
            </a:r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A175941A-F604-9A27-EA76-E3926F2627CF}"/>
              </a:ext>
            </a:extLst>
          </p:cNvPr>
          <p:cNvCxnSpPr/>
          <p:nvPr/>
        </p:nvCxnSpPr>
        <p:spPr>
          <a:xfrm>
            <a:off x="533400" y="4368800"/>
            <a:ext cx="11125200" cy="0"/>
          </a:xfrm>
          <a:prstGeom prst="line">
            <a:avLst/>
          </a:prstGeom>
          <a:ln w="8890">
            <a:solidFill>
              <a:srgbClr val="C6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0BFE35A-73E5-3F45-0B6B-F13A98220765}"/>
              </a:ext>
            </a:extLst>
          </p:cNvPr>
          <p:cNvSpPr txBox="1"/>
          <p:nvPr/>
        </p:nvSpPr>
        <p:spPr>
          <a:xfrm>
            <a:off x="762000" y="4521199"/>
            <a:ext cx="4953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700" b="1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原線上迴圈：單次 </a:t>
            </a:r>
            <a:r>
              <a:rPr lang="en-US" altLang="zh-TW" sz="1700" b="1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profiling</a:t>
            </a:r>
            <a:endParaRPr lang="zh-TW" altLang="en-US" sz="1700" b="1">
              <a:solidFill>
                <a:srgbClr val="152C3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050DE0D1-191C-3FCA-2639-8D2C6E6A24E8}"/>
              </a:ext>
            </a:extLst>
          </p:cNvPr>
          <p:cNvSpPr txBox="1"/>
          <p:nvPr/>
        </p:nvSpPr>
        <p:spPr>
          <a:xfrm>
            <a:off x="762000" y="4940299"/>
            <a:ext cx="49530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29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278 </a:t>
            </a:r>
            <a:r>
              <a:rPr lang="zh-TW" altLang="en-US" sz="29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秒／輪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512EA3DD-449C-71B8-A0DA-934FB8F9B6FE}"/>
              </a:ext>
            </a:extLst>
          </p:cNvPr>
          <p:cNvSpPr txBox="1"/>
          <p:nvPr/>
        </p:nvSpPr>
        <p:spPr>
          <a:xfrm>
            <a:off x="762000" y="5575299"/>
            <a:ext cx="4953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6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HFSS </a:t>
            </a:r>
            <a:r>
              <a:rPr lang="zh-TW" altLang="en-US" sz="16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約 </a:t>
            </a:r>
            <a:r>
              <a:rPr lang="en-US" altLang="zh-TW" sz="16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170 </a:t>
            </a:r>
            <a:r>
              <a:rPr lang="zh-TW" altLang="en-US" sz="16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秒，占 </a:t>
            </a:r>
            <a:r>
              <a:rPr lang="en-US" altLang="zh-TW" sz="16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61%</a:t>
            </a:r>
            <a:endParaRPr lang="zh-TW" altLang="en-US" sz="1600">
              <a:solidFill>
                <a:srgbClr val="152C3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28F5D49B-7543-761E-4240-ED7B89712BE0}"/>
              </a:ext>
            </a:extLst>
          </p:cNvPr>
          <p:cNvSpPr txBox="1"/>
          <p:nvPr/>
        </p:nvSpPr>
        <p:spPr>
          <a:xfrm>
            <a:off x="6604000" y="4521199"/>
            <a:ext cx="4826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700" b="1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批次線：模擬資料產出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3B6C32E9-85AA-C383-4077-F2C85E8BB655}"/>
              </a:ext>
            </a:extLst>
          </p:cNvPr>
          <p:cNvSpPr txBox="1"/>
          <p:nvPr/>
        </p:nvSpPr>
        <p:spPr>
          <a:xfrm>
            <a:off x="6604000" y="4940299"/>
            <a:ext cx="48260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29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中位 </a:t>
            </a:r>
            <a:r>
              <a:rPr lang="en-US" altLang="zh-TW" sz="29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160 </a:t>
            </a:r>
            <a:r>
              <a:rPr lang="zh-TW" altLang="en-US" sz="29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秒／筆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3DD15B0-E903-5AE4-F88B-5842F0DF79D6}"/>
              </a:ext>
            </a:extLst>
          </p:cNvPr>
          <p:cNvSpPr txBox="1"/>
          <p:nvPr/>
        </p:nvSpPr>
        <p:spPr>
          <a:xfrm>
            <a:off x="6604000" y="5575299"/>
            <a:ext cx="4826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6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代理訓練移出模擬機迴圈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164E903F-726C-0243-B732-F957B6E03BF8}"/>
              </a:ext>
            </a:extLst>
          </p:cNvPr>
          <p:cNvSpPr txBox="1"/>
          <p:nvPr/>
        </p:nvSpPr>
        <p:spPr>
          <a:xfrm>
            <a:off x="533400" y="6070600"/>
            <a:ext cx="111252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2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兩者為不同運作情境的快照，用於說明時間分配，不換算同條件加速倍率。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3E0BEBCB-C884-249F-0169-E473B3E61838}"/>
              </a:ext>
            </a:extLst>
          </p:cNvPr>
          <p:cNvSpPr txBox="1"/>
          <p:nvPr/>
        </p:nvSpPr>
        <p:spPr>
          <a:xfrm>
            <a:off x="533400" y="6400800"/>
            <a:ext cx="105410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來源：七月進度報告 </a:t>
            </a:r>
            <a:r>
              <a:rPr lang="en-US" altLang="zh-TW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v2 §1–2</a:t>
            </a:r>
            <a:r>
              <a:rPr lang="zh-TW" altLang="en-US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；</a:t>
            </a:r>
            <a:r>
              <a:rPr lang="en-US" altLang="zh-TW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methodology-divergences.md D22</a:t>
            </a:r>
            <a:r>
              <a:rPr lang="zh-TW" altLang="en-US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561307E0-A4D2-E2FD-2B66-A2449D177160}"/>
              </a:ext>
            </a:extLst>
          </p:cNvPr>
          <p:cNvSpPr txBox="1"/>
          <p:nvPr/>
        </p:nvSpPr>
        <p:spPr>
          <a:xfrm>
            <a:off x="11341100" y="6438900"/>
            <a:ext cx="3175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TW" sz="11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18</a:t>
            </a:r>
            <a:endParaRPr lang="zh-TW" altLang="en-US" sz="1100">
              <a:solidFill>
                <a:srgbClr val="526A7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45822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ap_title">
            <a:extLst>
              <a:ext uri="{FF2B5EF4-FFF2-40B4-BE49-F238E27FC236}">
                <a16:creationId xmlns:a16="http://schemas.microsoft.com/office/drawing/2014/main" id="{AC20D022-A613-EE2E-4423-E2DC64DF9276}"/>
              </a:ext>
            </a:extLst>
          </p:cNvPr>
          <p:cNvSpPr txBox="1"/>
          <p:nvPr/>
        </p:nvSpPr>
        <p:spPr>
          <a:xfrm>
            <a:off x="533400" y="279399"/>
            <a:ext cx="111125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3000" b="1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七月：生成約束與可製造性</a:t>
            </a: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D3E5207B-909A-02EA-2078-F45653BFD80A}"/>
              </a:ext>
            </a:extLst>
          </p:cNvPr>
          <p:cNvCxnSpPr/>
          <p:nvPr/>
        </p:nvCxnSpPr>
        <p:spPr>
          <a:xfrm>
            <a:off x="533400" y="1041400"/>
            <a:ext cx="11125200" cy="0"/>
          </a:xfrm>
          <a:prstGeom prst="line">
            <a:avLst/>
          </a:prstGeom>
          <a:ln w="8890">
            <a:solidFill>
              <a:srgbClr val="C6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7C8CF21C-64C2-79EC-0358-8F8D92D887C7}"/>
              </a:ext>
            </a:extLst>
          </p:cNvPr>
          <p:cNvCxnSpPr/>
          <p:nvPr/>
        </p:nvCxnSpPr>
        <p:spPr>
          <a:xfrm>
            <a:off x="533400" y="1041400"/>
            <a:ext cx="1244600" cy="0"/>
          </a:xfrm>
          <a:prstGeom prst="line">
            <a:avLst/>
          </a:prstGeom>
          <a:ln w="29210">
            <a:solidFill>
              <a:srgbClr val="245B85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D7235963-E47F-6609-D8DE-E31379B5A1A8}"/>
              </a:ext>
            </a:extLst>
          </p:cNvPr>
          <p:cNvSpPr txBox="1"/>
          <p:nvPr/>
        </p:nvSpPr>
        <p:spPr>
          <a:xfrm>
            <a:off x="533400" y="1371599"/>
            <a:ext cx="111252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先把幾何規則放進生成條件，再驗證電性是否維持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2ABF239-9C48-676F-D1C9-EA2E7B800207}"/>
              </a:ext>
            </a:extLst>
          </p:cNvPr>
          <p:cNvSpPr txBox="1"/>
          <p:nvPr/>
        </p:nvSpPr>
        <p:spPr>
          <a:xfrm>
            <a:off x="660400" y="1904999"/>
            <a:ext cx="32385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b="1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原圖：含碎片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EA1560F-096B-F049-8814-C626DE033308}"/>
              </a:ext>
            </a:extLst>
          </p:cNvPr>
          <p:cNvSpPr txBox="1"/>
          <p:nvPr/>
        </p:nvSpPr>
        <p:spPr>
          <a:xfrm>
            <a:off x="4381500" y="1904999"/>
            <a:ext cx="3479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10–5–10 </a:t>
            </a:r>
            <a:r>
              <a:rPr lang="zh-TW" altLang="en-US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部分對稱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A38D87D-95C7-80B0-2FA8-3E7117920D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70" t="33810" r="56699" b="36000"/>
          <a:stretch>
            <a:fillRect/>
          </a:stretch>
        </p:blipFill>
        <p:spPr>
          <a:xfrm>
            <a:off x="533400" y="2369791"/>
            <a:ext cx="7175500" cy="2931217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FB70834C-701E-BB56-25CD-BAF6C388640C}"/>
              </a:ext>
            </a:extLst>
          </p:cNvPr>
          <p:cNvSpPr txBox="1"/>
          <p:nvPr/>
        </p:nvSpPr>
        <p:spPr>
          <a:xfrm>
            <a:off x="533400" y="5486399"/>
            <a:ext cx="7175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5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F2 → s05</a:t>
            </a:r>
            <a:r>
              <a:rPr lang="zh-TW" altLang="en-US" sz="15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r>
              <a:rPr lang="en-US" altLang="zh-TW" sz="15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wm −1.42 → −0.29 dB
s05 </a:t>
            </a:r>
            <a:r>
              <a:rPr lang="zh-TW" altLang="en-US" sz="15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經 </a:t>
            </a:r>
            <a:r>
              <a:rPr lang="en-US" altLang="zh-TW" sz="15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41 </a:t>
            </a:r>
            <a:r>
              <a:rPr lang="zh-TW" altLang="en-US" sz="15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次重複模擬確認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D4EE59A-C96E-6CBC-D310-70EEB9AB2588}"/>
              </a:ext>
            </a:extLst>
          </p:cNvPr>
          <p:cNvSpPr txBox="1"/>
          <p:nvPr/>
        </p:nvSpPr>
        <p:spPr>
          <a:xfrm>
            <a:off x="8191500" y="2070099"/>
            <a:ext cx="34671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21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事後除塵的代價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120A218-069B-9824-7BBF-ACB2093A3782}"/>
              </a:ext>
            </a:extLst>
          </p:cNvPr>
          <p:cNvSpPr txBox="1"/>
          <p:nvPr/>
        </p:nvSpPr>
        <p:spPr>
          <a:xfrm>
            <a:off x="8191500" y="2603499"/>
            <a:ext cx="3467100" cy="1282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R7 </a:t>
            </a:r>
            <a:r>
              <a:rPr lang="zh-TW" altLang="en-US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 </a:t>
            </a:r>
            <a:r>
              <a:rPr lang="en-US" altLang="zh-TW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 </a:t>
            </a:r>
            <a:r>
              <a:rPr lang="zh-TW" altLang="en-US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個案例中，</a:t>
            </a:r>
            <a:r>
              <a:rPr lang="en-US" altLang="zh-TW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 </a:t>
            </a:r>
            <a:r>
              <a:rPr lang="zh-TW" altLang="en-US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
</a:t>
            </a:r>
            <a:r>
              <a:rPr lang="en-US" altLang="zh-TW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worst-margin </a:t>
            </a:r>
            <a:r>
              <a:rPr lang="zh-TW" altLang="en-US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下降
</a:t>
            </a:r>
            <a:r>
              <a:rPr lang="en-US" altLang="zh-TW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4.7–16.9 dB</a:t>
            </a:r>
            <a:r>
              <a:rPr lang="zh-TW" altLang="en-US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831836F-DE1B-8846-8D36-C7B92CDDA190}"/>
              </a:ext>
            </a:extLst>
          </p:cNvPr>
          <p:cNvSpPr txBox="1"/>
          <p:nvPr/>
        </p:nvSpPr>
        <p:spPr>
          <a:xfrm>
            <a:off x="8191500" y="4089399"/>
            <a:ext cx="34671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21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幾何規則是第一關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7DECB80-7DF5-D9A2-1786-C23B282DEA09}"/>
              </a:ext>
            </a:extLst>
          </p:cNvPr>
          <p:cNvSpPr txBox="1"/>
          <p:nvPr/>
        </p:nvSpPr>
        <p:spPr>
          <a:xfrm>
            <a:off x="8191500" y="4597399"/>
            <a:ext cx="3467100" cy="1130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7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零粉塵、金屬碎片 ≥ </a:t>
            </a:r>
            <a:r>
              <a:rPr lang="en-US" altLang="zh-TW" sz="17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 px</a:t>
            </a:r>
            <a:r>
              <a:rPr lang="zh-TW" altLang="en-US" sz="17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
饋墊完整；實體製程
公差仍需另行驗證。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67A84B3-25E3-2FB1-C298-13EB4023A36A}"/>
              </a:ext>
            </a:extLst>
          </p:cNvPr>
          <p:cNvSpPr txBox="1"/>
          <p:nvPr/>
        </p:nvSpPr>
        <p:spPr>
          <a:xfrm>
            <a:off x="533400" y="608330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2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此處為像素幾何條件與 </a:t>
            </a:r>
            <a:r>
              <a:rPr lang="en-US" altLang="zh-TW" sz="12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HFSS </a:t>
            </a:r>
            <a:r>
              <a:rPr lang="zh-TW" altLang="en-US" sz="12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模擬驗證；製程公差及實體量測尚待驗證。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D5A099F-2F04-02CC-9C38-BF5B5DA246E1}"/>
              </a:ext>
            </a:extLst>
          </p:cNvPr>
          <p:cNvSpPr txBox="1"/>
          <p:nvPr/>
        </p:nvSpPr>
        <p:spPr>
          <a:xfrm>
            <a:off x="533400" y="6400800"/>
            <a:ext cx="105410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來源：七月月報；</a:t>
            </a:r>
            <a:r>
              <a:rPr lang="en-US" altLang="zh-TW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R7</a:t>
            </a:r>
            <a:r>
              <a:rPr lang="zh-TW" altLang="en-US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（除塵）、</a:t>
            </a:r>
            <a:r>
              <a:rPr lang="en-US" altLang="zh-TW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R9–R10</a:t>
            </a:r>
            <a:r>
              <a:rPr lang="zh-TW" altLang="en-US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（部分對稱與重測）。圖為原圖樣局部，饋線朝下。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1237F0D-9D95-16D8-6DA4-2653931DBB8D}"/>
              </a:ext>
            </a:extLst>
          </p:cNvPr>
          <p:cNvSpPr txBox="1"/>
          <p:nvPr/>
        </p:nvSpPr>
        <p:spPr>
          <a:xfrm>
            <a:off x="11341100" y="6438900"/>
            <a:ext cx="3175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TW" sz="11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19</a:t>
            </a:r>
            <a:endParaRPr lang="zh-TW" altLang="en-US" sz="1100">
              <a:solidFill>
                <a:srgbClr val="526A7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82443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ap_title">
            <a:extLst>
              <a:ext uri="{FF2B5EF4-FFF2-40B4-BE49-F238E27FC236}">
                <a16:creationId xmlns:a16="http://schemas.microsoft.com/office/drawing/2014/main" id="{71B1E2CF-813C-5B53-A4B0-7A7256044B42}"/>
              </a:ext>
            </a:extLst>
          </p:cNvPr>
          <p:cNvSpPr txBox="1"/>
          <p:nvPr/>
        </p:nvSpPr>
        <p:spPr>
          <a:xfrm>
            <a:off x="533400" y="279399"/>
            <a:ext cx="111125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3000" b="1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七月：合格設計的款式多樣性</a:t>
            </a: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43326402-19DD-9179-463C-3865E4B5CB6D}"/>
              </a:ext>
            </a:extLst>
          </p:cNvPr>
          <p:cNvCxnSpPr/>
          <p:nvPr/>
        </p:nvCxnSpPr>
        <p:spPr>
          <a:xfrm>
            <a:off x="533400" y="1041400"/>
            <a:ext cx="11125200" cy="0"/>
          </a:xfrm>
          <a:prstGeom prst="line">
            <a:avLst/>
          </a:prstGeom>
          <a:ln w="8890">
            <a:solidFill>
              <a:srgbClr val="C6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6FBB6574-791C-A898-F5A6-41D8113BE7CC}"/>
              </a:ext>
            </a:extLst>
          </p:cNvPr>
          <p:cNvCxnSpPr/>
          <p:nvPr/>
        </p:nvCxnSpPr>
        <p:spPr>
          <a:xfrm>
            <a:off x="533400" y="1041400"/>
            <a:ext cx="1244600" cy="0"/>
          </a:xfrm>
          <a:prstGeom prst="line">
            <a:avLst/>
          </a:prstGeom>
          <a:ln w="29210">
            <a:solidFill>
              <a:srgbClr val="245B85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1FEA98D1-5B29-A623-6560-69D3C456C903}"/>
              </a:ext>
            </a:extLst>
          </p:cNvPr>
          <p:cNvSpPr txBox="1"/>
          <p:nvPr/>
        </p:nvSpPr>
        <p:spPr>
          <a:xfrm>
            <a:off x="533400" y="1371599"/>
            <a:ext cx="111252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七月報告快照：</a:t>
            </a:r>
            <a:r>
              <a:rPr lang="en-US" altLang="zh-TW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1,575 </a:t>
            </a:r>
            <a:r>
              <a:rPr lang="zh-TW" altLang="en-US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筆帶內與方向圖合格解，整理為 </a:t>
            </a:r>
            <a:r>
              <a:rPr lang="en-US" altLang="zh-TW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66 </a:t>
            </a:r>
            <a:r>
              <a:rPr lang="zh-TW" altLang="en-US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種款式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D25494C-FC91-FFE1-D20B-26CDD4CBC549}"/>
              </a:ext>
            </a:extLst>
          </p:cNvPr>
          <p:cNvSpPr txBox="1"/>
          <p:nvPr/>
        </p:nvSpPr>
        <p:spPr>
          <a:xfrm>
            <a:off x="533400" y="1879599"/>
            <a:ext cx="538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20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款式 </a:t>
            </a:r>
            <a:r>
              <a:rPr lang="en-US" altLang="zh-TW" sz="20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zh-TW" altLang="en-US" sz="20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</a:t>
            </a:r>
            <a:r>
              <a:rPr lang="en-US" altLang="zh-TW" sz="20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607 </a:t>
            </a:r>
            <a:r>
              <a:rPr lang="zh-TW" altLang="en-US" sz="20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個變體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8842C07-21CA-5977-580E-C3959F8F9440}"/>
              </a:ext>
            </a:extLst>
          </p:cNvPr>
          <p:cNvSpPr txBox="1"/>
          <p:nvPr/>
        </p:nvSpPr>
        <p:spPr>
          <a:xfrm>
            <a:off x="6286500" y="1879599"/>
            <a:ext cx="53721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20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款式 </a:t>
            </a:r>
            <a:r>
              <a:rPr lang="en-US" altLang="zh-TW" sz="20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zh-TW" altLang="en-US" sz="20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</a:t>
            </a:r>
            <a:r>
              <a:rPr lang="en-US" altLang="zh-TW" sz="20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412 </a:t>
            </a:r>
            <a:r>
              <a:rPr lang="zh-TW" altLang="en-US" sz="20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個變體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9533D78-0C36-104E-C2C9-674ED37D7F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1" t="8163" r="80567" b="56803"/>
          <a:stretch>
            <a:fillRect/>
          </a:stretch>
        </p:blipFill>
        <p:spPr>
          <a:xfrm>
            <a:off x="546577" y="2362200"/>
            <a:ext cx="2691447" cy="27178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C4FD156B-6830-EBBC-81F0-1D519D50B8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1" t="59864" r="80567" b="5215"/>
          <a:stretch>
            <a:fillRect/>
          </a:stretch>
        </p:blipFill>
        <p:spPr>
          <a:xfrm>
            <a:off x="6295300" y="2362200"/>
            <a:ext cx="2700200" cy="2717800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8FA3278D-81CE-64DD-C8C0-75C42AB33E32}"/>
              </a:ext>
            </a:extLst>
          </p:cNvPr>
          <p:cNvSpPr txBox="1"/>
          <p:nvPr/>
        </p:nvSpPr>
        <p:spPr>
          <a:xfrm>
            <a:off x="3606800" y="2311399"/>
            <a:ext cx="23368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4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代表設計的電性餘裕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BB191DE-43ED-5839-5CF1-89ECFEA8E677}"/>
              </a:ext>
            </a:extLst>
          </p:cNvPr>
          <p:cNvSpPr txBox="1"/>
          <p:nvPr/>
        </p:nvSpPr>
        <p:spPr>
          <a:xfrm>
            <a:off x="9359900" y="2311399"/>
            <a:ext cx="2311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4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代表設計的電性餘裕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0C3237C-82F0-DCE5-B222-B4A0EA7E9D9E}"/>
              </a:ext>
            </a:extLst>
          </p:cNvPr>
          <p:cNvSpPr txBox="1"/>
          <p:nvPr/>
        </p:nvSpPr>
        <p:spPr>
          <a:xfrm>
            <a:off x="3606800" y="2844799"/>
            <a:ext cx="23368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b="1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S11   +1.11 dB</a:t>
            </a:r>
            <a:endParaRPr lang="zh-TW" altLang="en-US" b="1">
              <a:solidFill>
                <a:srgbClr val="152C3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680AE8E-2F7D-A2B3-F868-4FDBE8739091}"/>
              </a:ext>
            </a:extLst>
          </p:cNvPr>
          <p:cNvSpPr txBox="1"/>
          <p:nvPr/>
        </p:nvSpPr>
        <p:spPr>
          <a:xfrm>
            <a:off x="3606800" y="3467099"/>
            <a:ext cx="23368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b="1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Gain  +0.05 dB</a:t>
            </a:r>
            <a:endParaRPr lang="zh-TW" altLang="en-US" b="1">
              <a:solidFill>
                <a:srgbClr val="152C3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10D2DA8-5329-7F62-1B21-D3392B662A38}"/>
              </a:ext>
            </a:extLst>
          </p:cNvPr>
          <p:cNvSpPr txBox="1"/>
          <p:nvPr/>
        </p:nvSpPr>
        <p:spPr>
          <a:xfrm>
            <a:off x="3606800" y="4089399"/>
            <a:ext cx="23368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b="1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Rad   +0.36 dB</a:t>
            </a:r>
            <a:endParaRPr lang="zh-TW" altLang="en-US" b="1">
              <a:solidFill>
                <a:srgbClr val="152C3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DA16DED-A230-65E5-579B-CAB52FD9C97A}"/>
              </a:ext>
            </a:extLst>
          </p:cNvPr>
          <p:cNvSpPr txBox="1"/>
          <p:nvPr/>
        </p:nvSpPr>
        <p:spPr>
          <a:xfrm>
            <a:off x="9359900" y="2844799"/>
            <a:ext cx="23368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b="1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S11   +1.19 dB</a:t>
            </a:r>
            <a:endParaRPr lang="zh-TW" altLang="en-US" b="1">
              <a:solidFill>
                <a:srgbClr val="152C3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653F149-9D20-AD84-D54B-478FBBCC93D3}"/>
              </a:ext>
            </a:extLst>
          </p:cNvPr>
          <p:cNvSpPr txBox="1"/>
          <p:nvPr/>
        </p:nvSpPr>
        <p:spPr>
          <a:xfrm>
            <a:off x="9359900" y="3467099"/>
            <a:ext cx="23368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b="1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Gain  +0.15 dB</a:t>
            </a:r>
            <a:endParaRPr lang="zh-TW" altLang="en-US" b="1">
              <a:solidFill>
                <a:srgbClr val="152C3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A115F2E-1570-53C2-78C6-12C4B12FBCB5}"/>
              </a:ext>
            </a:extLst>
          </p:cNvPr>
          <p:cNvSpPr txBox="1"/>
          <p:nvPr/>
        </p:nvSpPr>
        <p:spPr>
          <a:xfrm>
            <a:off x="9359900" y="4089399"/>
            <a:ext cx="23368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b="1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Rad   +0.13 dB</a:t>
            </a:r>
            <a:endParaRPr lang="zh-TW" altLang="en-US" b="1">
              <a:solidFill>
                <a:srgbClr val="152C3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C1F8E3C-1952-0D52-091B-86917D06DF2E}"/>
              </a:ext>
            </a:extLst>
          </p:cNvPr>
          <p:cNvSpPr txBox="1"/>
          <p:nvPr/>
        </p:nvSpPr>
        <p:spPr>
          <a:xfrm>
            <a:off x="533400" y="5410199"/>
            <a:ext cx="111252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同款變體用局部微調檢查可動區；不同款式保留結構差異，作為後續驗證備選。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814F8D8-30C0-679E-1697-98F43D138287}"/>
              </a:ext>
            </a:extLst>
          </p:cNvPr>
          <p:cNvSpPr txBox="1"/>
          <p:nvPr/>
        </p:nvSpPr>
        <p:spPr>
          <a:xfrm>
            <a:off x="533400" y="608330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2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數字為七月月報中的 </a:t>
            </a:r>
            <a:r>
              <a:rPr lang="en-US" altLang="zh-TW" sz="12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HFSS </a:t>
            </a:r>
            <a:r>
              <a:rPr lang="zh-TW" altLang="en-US" sz="12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模擬快照，未換算為實體製造良率。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66CA529D-84AA-ECDF-7798-B8CEBD8186E4}"/>
              </a:ext>
            </a:extLst>
          </p:cNvPr>
          <p:cNvSpPr txBox="1"/>
          <p:nvPr/>
        </p:nvSpPr>
        <p:spPr>
          <a:xfrm>
            <a:off x="533400" y="6400800"/>
            <a:ext cx="105410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來源：七月進度報告 </a:t>
            </a:r>
            <a:r>
              <a:rPr lang="en-US" altLang="zh-TW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v2 §7.1–7.3</a:t>
            </a:r>
            <a:r>
              <a:rPr lang="zh-TW" altLang="en-US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、多樣性 </a:t>
            </a:r>
            <a:r>
              <a:rPr lang="en-US" altLang="zh-TW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gallery</a:t>
            </a:r>
            <a:r>
              <a:rPr lang="zh-TW" altLang="en-US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。兩圖樣均保留原始方向，饋線朝下。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4E8FCEE5-138D-5E4D-843D-A0047BC8BCB1}"/>
              </a:ext>
            </a:extLst>
          </p:cNvPr>
          <p:cNvSpPr txBox="1"/>
          <p:nvPr/>
        </p:nvSpPr>
        <p:spPr>
          <a:xfrm>
            <a:off x="11341100" y="6438900"/>
            <a:ext cx="3175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TW" sz="11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</a:t>
            </a:r>
            <a:endParaRPr lang="zh-TW" altLang="en-US" sz="1100">
              <a:solidFill>
                <a:srgbClr val="526A7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40174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ap_title">
            <a:extLst>
              <a:ext uri="{FF2B5EF4-FFF2-40B4-BE49-F238E27FC236}">
                <a16:creationId xmlns:a16="http://schemas.microsoft.com/office/drawing/2014/main" id="{1846AAD5-E523-0626-0D55-C399885B40F7}"/>
              </a:ext>
            </a:extLst>
          </p:cNvPr>
          <p:cNvSpPr txBox="1"/>
          <p:nvPr/>
        </p:nvSpPr>
        <p:spPr>
          <a:xfrm>
            <a:off x="533400" y="279399"/>
            <a:ext cx="111125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3000" b="1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八月：資料瀏覽與可製造性篩選</a:t>
            </a: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6543023E-2A0F-C2DE-4E69-2241CD01580A}"/>
              </a:ext>
            </a:extLst>
          </p:cNvPr>
          <p:cNvCxnSpPr/>
          <p:nvPr/>
        </p:nvCxnSpPr>
        <p:spPr>
          <a:xfrm>
            <a:off x="533400" y="1041400"/>
            <a:ext cx="11125200" cy="0"/>
          </a:xfrm>
          <a:prstGeom prst="line">
            <a:avLst/>
          </a:prstGeom>
          <a:ln w="8890">
            <a:solidFill>
              <a:srgbClr val="C6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1FDB7ACD-66CC-1E9E-D5A1-2B3FCA025689}"/>
              </a:ext>
            </a:extLst>
          </p:cNvPr>
          <p:cNvCxnSpPr/>
          <p:nvPr/>
        </p:nvCxnSpPr>
        <p:spPr>
          <a:xfrm>
            <a:off x="533400" y="1041400"/>
            <a:ext cx="1244600" cy="0"/>
          </a:xfrm>
          <a:prstGeom prst="line">
            <a:avLst/>
          </a:prstGeom>
          <a:ln w="29210">
            <a:solidFill>
              <a:srgbClr val="245B85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38A0CB60-7A6D-4BFD-9457-29B898825F07}"/>
              </a:ext>
            </a:extLst>
          </p:cNvPr>
          <p:cNvSpPr txBox="1"/>
          <p:nvPr/>
        </p:nvSpPr>
        <p:spPr>
          <a:xfrm>
            <a:off x="533400" y="1371599"/>
            <a:ext cx="111252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約 </a:t>
            </a:r>
            <a:r>
              <a:rPr lang="en-US" altLang="zh-TW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3.9 </a:t>
            </a:r>
            <a:r>
              <a:rPr lang="zh-TW" altLang="en-US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萬筆單埠模擬資料，依幾何變形後的結果篩選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9270151-702C-6829-00CF-39ADF63433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500" r="16500" b="49177"/>
          <a:stretch>
            <a:fillRect/>
          </a:stretch>
        </p:blipFill>
        <p:spPr>
          <a:xfrm>
            <a:off x="533400" y="1959550"/>
            <a:ext cx="11125200" cy="3472301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B032E9FF-4CBB-7189-2E2F-890B182792C8}"/>
              </a:ext>
            </a:extLst>
          </p:cNvPr>
          <p:cNvSpPr txBox="1"/>
          <p:nvPr/>
        </p:nvSpPr>
        <p:spPr>
          <a:xfrm>
            <a:off x="533400" y="5676899"/>
            <a:ext cx="111252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7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原圖 </a:t>
            </a:r>
            <a:r>
              <a:rPr lang="en-US" altLang="zh-TW" sz="17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wm</a:t>
            </a:r>
            <a:r>
              <a:rPr lang="zh-TW" altLang="en-US" sz="17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、菱形化後 </a:t>
            </a:r>
            <a:r>
              <a:rPr lang="en-US" altLang="zh-TW" sz="17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db100_wm </a:t>
            </a:r>
            <a:r>
              <a:rPr lang="zh-TW" altLang="en-US" sz="17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與差值並列；先用合格閘門篩選，再匯出候選。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A3AAC9A-B108-CFB0-6FBE-F30FC83651E6}"/>
              </a:ext>
            </a:extLst>
          </p:cNvPr>
          <p:cNvSpPr txBox="1"/>
          <p:nvPr/>
        </p:nvSpPr>
        <p:spPr>
          <a:xfrm>
            <a:off x="533400" y="6083300"/>
            <a:ext cx="111252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2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製造視角採幾何變形後的 </a:t>
            </a:r>
            <a:r>
              <a:rPr lang="en-US" altLang="zh-TW" sz="12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HFSS </a:t>
            </a:r>
            <a:r>
              <a:rPr lang="zh-TW" altLang="en-US" sz="12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分數，與實體量測結果分開記錄。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5C372B8-D16E-8F39-FD38-C7113DFDF99D}"/>
              </a:ext>
            </a:extLst>
          </p:cNvPr>
          <p:cNvSpPr txBox="1"/>
          <p:nvPr/>
        </p:nvSpPr>
        <p:spPr>
          <a:xfrm>
            <a:off x="533400" y="6400800"/>
            <a:ext cx="105410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來源：八月進度報告；</a:t>
            </a:r>
            <a:r>
              <a:rPr lang="en-US" altLang="zh-TW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Pattern Browser </a:t>
            </a:r>
            <a:r>
              <a:rPr lang="zh-TW" altLang="en-US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單埠製造視角截圖（當時資料快照，放大前三列）。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4D40EC9-7328-620B-C942-1D45683E1A6D}"/>
              </a:ext>
            </a:extLst>
          </p:cNvPr>
          <p:cNvSpPr txBox="1"/>
          <p:nvPr/>
        </p:nvSpPr>
        <p:spPr>
          <a:xfrm>
            <a:off x="11341100" y="6438900"/>
            <a:ext cx="3175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TW" sz="11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21</a:t>
            </a:r>
            <a:endParaRPr lang="zh-TW" altLang="en-US" sz="1100">
              <a:solidFill>
                <a:srgbClr val="526A7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74327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ap_title">
            <a:extLst>
              <a:ext uri="{FF2B5EF4-FFF2-40B4-BE49-F238E27FC236}">
                <a16:creationId xmlns:a16="http://schemas.microsoft.com/office/drawing/2014/main" id="{71643779-1F66-D0E6-56D0-B6FC89806FF4}"/>
              </a:ext>
            </a:extLst>
          </p:cNvPr>
          <p:cNvSpPr txBox="1"/>
          <p:nvPr/>
        </p:nvSpPr>
        <p:spPr>
          <a:xfrm>
            <a:off x="533400" y="279399"/>
            <a:ext cx="111125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3000" b="1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八月：顯式菱形橋與可製造幾何</a:t>
            </a: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269F84B8-7A15-BFDB-A6B5-D50BF9E7D149}"/>
              </a:ext>
            </a:extLst>
          </p:cNvPr>
          <p:cNvCxnSpPr/>
          <p:nvPr/>
        </p:nvCxnSpPr>
        <p:spPr>
          <a:xfrm>
            <a:off x="533400" y="1041400"/>
            <a:ext cx="11125200" cy="0"/>
          </a:xfrm>
          <a:prstGeom prst="line">
            <a:avLst/>
          </a:prstGeom>
          <a:ln w="8890">
            <a:solidFill>
              <a:srgbClr val="C6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535CAC8B-0995-C8B6-A897-8A607EB60140}"/>
              </a:ext>
            </a:extLst>
          </p:cNvPr>
          <p:cNvCxnSpPr/>
          <p:nvPr/>
        </p:nvCxnSpPr>
        <p:spPr>
          <a:xfrm>
            <a:off x="533400" y="1041400"/>
            <a:ext cx="1244600" cy="0"/>
          </a:xfrm>
          <a:prstGeom prst="line">
            <a:avLst/>
          </a:prstGeom>
          <a:ln w="29210">
            <a:solidFill>
              <a:srgbClr val="245B85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圖形 5">
            <a:extLst>
              <a:ext uri="{FF2B5EF4-FFF2-40B4-BE49-F238E27FC236}">
                <a16:creationId xmlns:a16="http://schemas.microsoft.com/office/drawing/2014/main" id="{E727A67C-8292-44E7-1CFF-A2B72F118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" y="1357313"/>
            <a:ext cx="11125200" cy="486727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B51FEA6-55AD-9B91-A668-96F66741AF64}"/>
              </a:ext>
            </a:extLst>
          </p:cNvPr>
          <p:cNvSpPr txBox="1"/>
          <p:nvPr/>
        </p:nvSpPr>
        <p:spPr>
          <a:xfrm>
            <a:off x="533400" y="6400800"/>
            <a:ext cx="105410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來源：</a:t>
            </a:r>
            <a:r>
              <a:rPr lang="en-US" altLang="zh-TW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R70–R71</a:t>
            </a:r>
            <a:r>
              <a:rPr lang="zh-TW" altLang="en-US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；</a:t>
            </a:r>
            <a:r>
              <a:rPr lang="en-US" altLang="zh-TW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dual_port.py </a:t>
            </a:r>
            <a:r>
              <a:rPr lang="zh-TW" altLang="en-US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 </a:t>
            </a:r>
            <a:r>
              <a:rPr lang="en-US" altLang="zh-TW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diag_bridge_w </a:t>
            </a:r>
            <a:r>
              <a:rPr lang="zh-TW" altLang="en-US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實作。示意圖不依實際比例；實體製程仍需驗證。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CF8F6CB-3B32-4C7E-6857-04A1AAC7547C}"/>
              </a:ext>
            </a:extLst>
          </p:cNvPr>
          <p:cNvSpPr txBox="1"/>
          <p:nvPr/>
        </p:nvSpPr>
        <p:spPr>
          <a:xfrm>
            <a:off x="11341100" y="6438900"/>
            <a:ext cx="3175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TW" sz="11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22</a:t>
            </a:r>
            <a:endParaRPr lang="zh-TW" altLang="en-US" sz="1100">
              <a:solidFill>
                <a:srgbClr val="526A7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64126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ap_title">
            <a:extLst>
              <a:ext uri="{FF2B5EF4-FFF2-40B4-BE49-F238E27FC236}">
                <a16:creationId xmlns:a16="http://schemas.microsoft.com/office/drawing/2014/main" id="{A3E38320-7477-45FD-470E-DE81EAB0F5C3}"/>
              </a:ext>
            </a:extLst>
          </p:cNvPr>
          <p:cNvSpPr txBox="1"/>
          <p:nvPr/>
        </p:nvSpPr>
        <p:spPr>
          <a:xfrm>
            <a:off x="533400" y="279399"/>
            <a:ext cx="111125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3000" b="1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八月：</a:t>
            </a:r>
            <a:r>
              <a:rPr lang="en-US" altLang="zh-TW" sz="3000" b="1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Dual-port </a:t>
            </a:r>
            <a:r>
              <a:rPr lang="zh-TW" altLang="en-US" sz="3000" b="1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性能與代表設計</a:t>
            </a: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1163A48E-DF6C-F9F1-E5D5-C9080497F482}"/>
              </a:ext>
            </a:extLst>
          </p:cNvPr>
          <p:cNvCxnSpPr/>
          <p:nvPr/>
        </p:nvCxnSpPr>
        <p:spPr>
          <a:xfrm>
            <a:off x="533400" y="1041400"/>
            <a:ext cx="11125200" cy="0"/>
          </a:xfrm>
          <a:prstGeom prst="line">
            <a:avLst/>
          </a:prstGeom>
          <a:ln w="8890">
            <a:solidFill>
              <a:srgbClr val="C6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047F5069-C72F-DFAE-E8FB-9CA722EF1D12}"/>
              </a:ext>
            </a:extLst>
          </p:cNvPr>
          <p:cNvCxnSpPr/>
          <p:nvPr/>
        </p:nvCxnSpPr>
        <p:spPr>
          <a:xfrm>
            <a:off x="533400" y="1041400"/>
            <a:ext cx="1244600" cy="0"/>
          </a:xfrm>
          <a:prstGeom prst="line">
            <a:avLst/>
          </a:prstGeom>
          <a:ln w="29210">
            <a:solidFill>
              <a:srgbClr val="245B85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FC8D8681-DA33-F171-05ED-2571EF967C1A}"/>
              </a:ext>
            </a:extLst>
          </p:cNvPr>
          <p:cNvSpPr txBox="1"/>
          <p:nvPr/>
        </p:nvSpPr>
        <p:spPr>
          <a:xfrm>
            <a:off x="533400" y="1371599"/>
            <a:ext cx="111252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可製造幾何下的性能進展｜</a:t>
            </a:r>
            <a:r>
              <a:rPr lang="en-US" altLang="zh-TW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8/13–8/24</a:t>
            </a:r>
            <a:endParaRPr lang="zh-TW" altLang="en-US">
              <a:solidFill>
                <a:srgbClr val="152C3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4B19000-F22B-E9B2-9013-E31159273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945078"/>
            <a:ext cx="7594600" cy="3361544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C25402EC-46EF-1558-8387-35FFA52078A2}"/>
              </a:ext>
            </a:extLst>
          </p:cNvPr>
          <p:cNvSpPr txBox="1"/>
          <p:nvPr/>
        </p:nvSpPr>
        <p:spPr>
          <a:xfrm>
            <a:off x="8356600" y="1917699"/>
            <a:ext cx="330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6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代表圖樣：同家族局部微調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9A7C8D62-B7BA-FEB9-7D09-A29696692D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09" t="19286" r="83511" b="18571"/>
          <a:stretch>
            <a:fillRect/>
          </a:stretch>
        </p:blipFill>
        <p:spPr>
          <a:xfrm>
            <a:off x="8483600" y="2517891"/>
            <a:ext cx="1422400" cy="139041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3361639C-3DC2-493F-E2FB-08D5D8F50B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688" t="19286" r="532" b="18571"/>
          <a:stretch>
            <a:fillRect/>
          </a:stretch>
        </p:blipFill>
        <p:spPr>
          <a:xfrm>
            <a:off x="10236200" y="2517883"/>
            <a:ext cx="1422400" cy="1390434"/>
          </a:xfrm>
          <a:prstGeom prst="rect">
            <a:avLst/>
          </a:prstGeom>
        </p:spPr>
      </p:pic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9DBDB97A-98DF-F3AF-ED08-B457520E39B1}"/>
              </a:ext>
            </a:extLst>
          </p:cNvPr>
          <p:cNvCxnSpPr/>
          <p:nvPr/>
        </p:nvCxnSpPr>
        <p:spPr>
          <a:xfrm>
            <a:off x="9969500" y="3213100"/>
            <a:ext cx="177800" cy="0"/>
          </a:xfrm>
          <a:prstGeom prst="line">
            <a:avLst/>
          </a:prstGeom>
          <a:ln w="19050">
            <a:solidFill>
              <a:srgbClr val="245B85"/>
            </a:solidFill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7AA638D-CDFC-6794-AC61-E8A013F4C290}"/>
              </a:ext>
            </a:extLst>
          </p:cNvPr>
          <p:cNvSpPr txBox="1"/>
          <p:nvPr/>
        </p:nvSpPr>
        <p:spPr>
          <a:xfrm>
            <a:off x="8343900" y="4013199"/>
            <a:ext cx="1739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700" b="1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−5.90 dB</a:t>
            </a:r>
            <a:endParaRPr lang="zh-TW" altLang="en-US" sz="1700" b="1">
              <a:solidFill>
                <a:srgbClr val="526A7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2EB9387-9B79-FD97-BF2A-D6F1678432B9}"/>
              </a:ext>
            </a:extLst>
          </p:cNvPr>
          <p:cNvSpPr txBox="1"/>
          <p:nvPr/>
        </p:nvSpPr>
        <p:spPr>
          <a:xfrm>
            <a:off x="10160000" y="4013199"/>
            <a:ext cx="14986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TW" sz="17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−2.39 dB</a:t>
            </a:r>
            <a:endParaRPr lang="zh-TW" altLang="en-US" sz="1700" b="1">
              <a:solidFill>
                <a:srgbClr val="245B85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85073E9-CCA2-D3AF-4943-8A678AC91C83}"/>
              </a:ext>
            </a:extLst>
          </p:cNvPr>
          <p:cNvSpPr txBox="1"/>
          <p:nvPr/>
        </p:nvSpPr>
        <p:spPr>
          <a:xfrm>
            <a:off x="8356600" y="4610099"/>
            <a:ext cx="3302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26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改善 </a:t>
            </a:r>
            <a:r>
              <a:rPr lang="en-US" altLang="zh-TW" sz="2600" b="1">
                <a:solidFill>
                  <a:srgbClr val="245B8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3.51 dB</a:t>
            </a:r>
            <a:endParaRPr lang="zh-TW" altLang="en-US" sz="2600" b="1">
              <a:solidFill>
                <a:srgbClr val="245B85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210E207-D28E-A6F7-BDB9-031E2F505761}"/>
              </a:ext>
            </a:extLst>
          </p:cNvPr>
          <p:cNvSpPr txBox="1"/>
          <p:nvPr/>
        </p:nvSpPr>
        <p:spPr>
          <a:xfrm>
            <a:off x="8356600" y="5194299"/>
            <a:ext cx="3302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7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17 </a:t>
            </a:r>
            <a:r>
              <a:rPr lang="zh-TW" altLang="en-US" sz="17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次刷新｜</a:t>
            </a:r>
            <a:r>
              <a:rPr lang="en-US" altLang="zh-TW" sz="17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23 </a:t>
            </a:r>
            <a:r>
              <a:rPr lang="zh-TW" altLang="en-US" sz="17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輪研究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D13A6B5-844F-1620-380B-2EBA0B3E0A1D}"/>
              </a:ext>
            </a:extLst>
          </p:cNvPr>
          <p:cNvSpPr txBox="1"/>
          <p:nvPr/>
        </p:nvSpPr>
        <p:spPr>
          <a:xfrm>
            <a:off x="533400" y="5803899"/>
            <a:ext cx="111252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6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幾何換代後重新開帳；−</a:t>
            </a:r>
            <a:r>
              <a:rPr lang="en-US" altLang="zh-TW" sz="16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2.39 dB </a:t>
            </a:r>
            <a:r>
              <a:rPr lang="zh-TW" altLang="en-US" sz="1600">
                <a:solidFill>
                  <a:srgbClr val="152C3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仍低於零餘裕，性能改善與全部達標分開判讀。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10707DD-0818-6DAC-3E4B-C2FEE27FEAE8}"/>
              </a:ext>
            </a:extLst>
          </p:cNvPr>
          <p:cNvSpPr txBox="1"/>
          <p:nvPr/>
        </p:nvSpPr>
        <p:spPr>
          <a:xfrm>
            <a:off x="533400" y="6400800"/>
            <a:ext cx="105410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來源：八月月報、</a:t>
            </a:r>
            <a:r>
              <a:rPr lang="en-US" altLang="zh-TW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dual </a:t>
            </a:r>
            <a:r>
              <a:rPr lang="zh-TW" altLang="en-US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歷史紀錄。性能區間 </a:t>
            </a:r>
            <a:r>
              <a:rPr lang="en-US" altLang="zh-TW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8/13–8/24</a:t>
            </a:r>
            <a:r>
              <a:rPr lang="zh-TW" altLang="en-US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；</a:t>
            </a:r>
            <a:r>
              <a:rPr lang="en-US" altLang="zh-TW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R57–R79 </a:t>
            </a:r>
            <a:r>
              <a:rPr lang="zh-TW" altLang="en-US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 </a:t>
            </a:r>
            <a:r>
              <a:rPr lang="en-US" altLang="zh-TW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8/11–8/24 </a:t>
            </a:r>
            <a:r>
              <a:rPr lang="zh-TW" altLang="en-US" sz="9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的研究輪次。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4170FEE-48FD-FB2C-2063-F6549F539BA3}"/>
              </a:ext>
            </a:extLst>
          </p:cNvPr>
          <p:cNvSpPr txBox="1"/>
          <p:nvPr/>
        </p:nvSpPr>
        <p:spPr>
          <a:xfrm>
            <a:off x="11341100" y="6438900"/>
            <a:ext cx="3175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TW" sz="1100">
                <a:solidFill>
                  <a:srgbClr val="526A7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23</a:t>
            </a:r>
            <a:endParaRPr lang="zh-TW" altLang="en-US" sz="1100">
              <a:solidFill>
                <a:srgbClr val="526A7D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2977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3766</Words>
  <Application>Microsoft Office PowerPoint</Application>
  <PresentationFormat>寬螢幕</PresentationFormat>
  <Paragraphs>345</Paragraphs>
  <Slides>23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8" baseType="lpstr">
      <vt:lpstr>Microsoft JhengHei</vt:lpstr>
      <vt:lpstr>Aptos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ricky</cp:lastModifiedBy>
  <cp:revision>20</cp:revision>
  <dcterms:created xsi:type="dcterms:W3CDTF">2013-01-27T09:14:16Z</dcterms:created>
  <dcterms:modified xsi:type="dcterms:W3CDTF">2026-09-23T14:45:32Z</dcterms:modified>
  <cp:category/>
</cp:coreProperties>
</file>